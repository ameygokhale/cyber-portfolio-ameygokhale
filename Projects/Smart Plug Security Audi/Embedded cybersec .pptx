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Roboto"/>
      <p:regular r:id="rId26"/>
      <p:bold r:id="rId27"/>
      <p:italic r:id="rId28"/>
      <p:boldItalic r:id="rId29"/>
    </p:embeddedFont>
    <p:embeddedFont>
      <p:font typeface="Nunito"/>
      <p:regular r:id="rId30"/>
      <p:bold r:id="rId31"/>
      <p:italic r:id="rId32"/>
      <p:boldItalic r:id="rId33"/>
    </p:embeddedFont>
    <p:embeddedFont>
      <p:font typeface="Lexend"/>
      <p:regular r:id="rId34"/>
      <p:bold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regular.fntdata"/><Relationship Id="rId25" Type="http://schemas.openxmlformats.org/officeDocument/2006/relationships/slide" Target="slides/slide20.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bold.fntdata"/><Relationship Id="rId30" Type="http://schemas.openxmlformats.org/officeDocument/2006/relationships/font" Target="fonts/Nunito-regular.fntdata"/><Relationship Id="rId11" Type="http://schemas.openxmlformats.org/officeDocument/2006/relationships/slide" Target="slides/slide6.xml"/><Relationship Id="rId33" Type="http://schemas.openxmlformats.org/officeDocument/2006/relationships/font" Target="fonts/Nunito-boldItalic.fntdata"/><Relationship Id="rId10" Type="http://schemas.openxmlformats.org/officeDocument/2006/relationships/slide" Target="slides/slide5.xml"/><Relationship Id="rId32" Type="http://schemas.openxmlformats.org/officeDocument/2006/relationships/font" Target="fonts/Nunito-italic.fntdata"/><Relationship Id="rId13" Type="http://schemas.openxmlformats.org/officeDocument/2006/relationships/slide" Target="slides/slide8.xml"/><Relationship Id="rId35" Type="http://schemas.openxmlformats.org/officeDocument/2006/relationships/font" Target="fonts/Lexend-bold.fntdata"/><Relationship Id="rId12" Type="http://schemas.openxmlformats.org/officeDocument/2006/relationships/slide" Target="slides/slide7.xml"/><Relationship Id="rId34" Type="http://schemas.openxmlformats.org/officeDocument/2006/relationships/font" Target="fonts/Lexend-regular.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Nunito </a:t>
            </a:r>
            <a:br>
              <a:rPr lang="en"/>
            </a:br>
            <a:r>
              <a:rPr lang="en"/>
              <a:t>Font size 22</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404989fec0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404989fec0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50">
                <a:solidFill>
                  <a:schemeClr val="dk1"/>
                </a:solidFill>
                <a:latin typeface="Roboto"/>
                <a:ea typeface="Roboto"/>
                <a:cs typeface="Roboto"/>
                <a:sym typeface="Roboto"/>
              </a:rPr>
              <a:t>The Beli SP3 is a smart Wi-Fi plug. It can turn electronics off or on from anywhere with your smartphone using the Beli app. You can schedule the Smart Plug to automatically switch off &amp; on when you’re away or select a schedule for controlling many devices with the push of a button. The SP3 works directly with Amazon Alexa and Google Assistant to manage your devices through Voice Control.The</a:t>
            </a:r>
            <a:r>
              <a:rPr lang="en" sz="1050">
                <a:solidFill>
                  <a:srgbClr val="F1F1F1"/>
                </a:solidFill>
                <a:latin typeface="Roboto"/>
                <a:ea typeface="Roboto"/>
                <a:cs typeface="Roboto"/>
                <a:sym typeface="Roboto"/>
              </a:rPr>
              <a:t> Beli SP3 works on secure 2.4GHz wireless networks without the need for a separate hub.</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404989fec0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404989fec0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404989fec0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404989fec0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404989fec0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404989fec0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404989fec0_1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404989fec0_1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22c98bc5b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22c98bc5b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22c98bc5b2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22c98bc5b2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22c98bc5b2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22c98bc5b2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22c98bc5b2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22c98bc5b2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22c98bc5b2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22c98bc5b2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404989fec0_1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404989fec0_1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74151"/>
                </a:solidFill>
                <a:highlight>
                  <a:srgbClr val="F7F7F8"/>
                </a:highlight>
                <a:latin typeface="Roboto"/>
                <a:ea typeface="Roboto"/>
                <a:cs typeface="Roboto"/>
                <a:sym typeface="Roboto"/>
              </a:rPr>
              <a:t>"SBOM" stands for Software Bill of Materials. It is a list of all the third-party software components utilized in a product's software, including their versions, support status, and any known vulnerabilities. An SBOM is used by manufacturers to ensure they are aware of all the software components in their products and to monitor and manage any vulnerabilities or threats that may arise. It is also helpful for end-users and consumers of the product to be aware of the software components in use and any potential vulnerabilities or threats. The SBOM can be included in product documentation or made available in machine-readable formats for post-market surveillance.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404989fec0_1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404989fec0_1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404989fec0_1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404989fec0_1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22c98bc5b2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22c98bc5b2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300">
              <a:solidFill>
                <a:srgbClr val="424242"/>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300">
                <a:solidFill>
                  <a:srgbClr val="424242"/>
                </a:solidFill>
                <a:latin typeface="Nunito"/>
                <a:ea typeface="Nunito"/>
                <a:cs typeface="Nunito"/>
                <a:sym typeface="Nunito"/>
              </a:rPr>
              <a:t>As a manufacturer, it is crucial to actively monitor and identify known vulnerabilities affecting your system to ensure the security and reliability of your product. To perform post-market surveillance on the software components mentioned in the table above, you can take the following steps:</a:t>
            </a:r>
            <a:endParaRPr sz="1300">
              <a:solidFill>
                <a:srgbClr val="424242"/>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300">
                <a:solidFill>
                  <a:srgbClr val="424242"/>
                </a:solidFill>
                <a:latin typeface="Nunito"/>
                <a:ea typeface="Nunito"/>
                <a:cs typeface="Nunito"/>
                <a:sym typeface="Nunito"/>
              </a:rPr>
              <a:t>Establish a dedicated security team: Form a team responsible for tracking and monitoring vulnerabilities, assessing their impact on your product, and coordinating necessary updates or patches.</a:t>
            </a:r>
            <a:endParaRPr sz="1300">
              <a:solidFill>
                <a:srgbClr val="424242"/>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300">
                <a:solidFill>
                  <a:srgbClr val="424242"/>
                </a:solidFill>
                <a:latin typeface="Nunito"/>
                <a:ea typeface="Nunito"/>
                <a:cs typeface="Nunito"/>
                <a:sym typeface="Nunito"/>
              </a:rPr>
              <a:t>Subscribe to security advisories: Subscribe to security advisories and mailing lists provided by the vendors of the components you are using. This will help you stay informed about any known vulnerabilities, updates, or patches.</a:t>
            </a:r>
            <a:endParaRPr sz="1300">
              <a:solidFill>
                <a:srgbClr val="424242"/>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300">
                <a:solidFill>
                  <a:srgbClr val="424242"/>
                </a:solidFill>
                <a:latin typeface="Nunito"/>
                <a:ea typeface="Nunito"/>
                <a:cs typeface="Nunito"/>
                <a:sym typeface="Nunito"/>
              </a:rPr>
              <a:t>Regularly check vendor websites: Visit the websites of the vendors (RealTek, Google, Apple, ARM, Amazon Web Services) regularly to look for updates or security bulletins. These can provide valuable information about vulnerabilities and updates.</a:t>
            </a:r>
            <a:endParaRPr sz="1300">
              <a:solidFill>
                <a:srgbClr val="424242"/>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300">
                <a:solidFill>
                  <a:srgbClr val="424242"/>
                </a:solidFill>
                <a:latin typeface="Nunito"/>
                <a:ea typeface="Nunito"/>
                <a:cs typeface="Nunito"/>
                <a:sym typeface="Nunito"/>
              </a:rPr>
              <a:t>Vulnerability databases: Monitor vulnerability databases such as the Common Vulnerabilities and Exposures (CVE) and the National Vulnerability Database (NVD) for any vulnerabilities related to the software components in your product.</a:t>
            </a:r>
            <a:endParaRPr sz="1300">
              <a:solidFill>
                <a:srgbClr val="424242"/>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300">
                <a:solidFill>
                  <a:srgbClr val="424242"/>
                </a:solidFill>
                <a:latin typeface="Nunito"/>
                <a:ea typeface="Nunito"/>
                <a:cs typeface="Nunito"/>
                <a:sym typeface="Nunito"/>
              </a:rPr>
              <a:t>Automated vulnerability scanning: Implement automated vulnerability scanning tools to regularly scan your product's firmware and software for known vulnerabilities.</a:t>
            </a:r>
            <a:endParaRPr sz="1300">
              <a:solidFill>
                <a:srgbClr val="424242"/>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300">
                <a:solidFill>
                  <a:srgbClr val="424242"/>
                </a:solidFill>
                <a:latin typeface="Nunito"/>
                <a:ea typeface="Nunito"/>
                <a:cs typeface="Nunito"/>
                <a:sym typeface="Nunito"/>
              </a:rPr>
              <a:t>Periodic risk assessments: Conduct regular risk assessments to evaluate the potential impact of identified vulnerabilities on your product and prioritize the ones that need immediate attention.</a:t>
            </a:r>
            <a:endParaRPr sz="1300">
              <a:solidFill>
                <a:srgbClr val="424242"/>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300">
                <a:solidFill>
                  <a:srgbClr val="424242"/>
                </a:solidFill>
                <a:latin typeface="Nunito"/>
                <a:ea typeface="Nunito"/>
                <a:cs typeface="Nunito"/>
                <a:sym typeface="Nunito"/>
              </a:rPr>
              <a:t>Patch management: Develop a robust patch management process to ensure timely deployment of security updates and patches provided by the vendors.</a:t>
            </a:r>
            <a:endParaRPr sz="1300">
              <a:solidFill>
                <a:srgbClr val="424242"/>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300">
                <a:solidFill>
                  <a:srgbClr val="424242"/>
                </a:solidFill>
                <a:latin typeface="Nunito"/>
                <a:ea typeface="Nunito"/>
                <a:cs typeface="Nunito"/>
                <a:sym typeface="Nunito"/>
              </a:rPr>
              <a:t>Engage with the user community: Encourage users to report any security issues or vulnerabilities they discover in your product. Offer incentives like bug bounties to motivate users to help identify vulnerabilities.</a:t>
            </a:r>
            <a:endParaRPr sz="1300">
              <a:solidFill>
                <a:srgbClr val="424242"/>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300">
                <a:solidFill>
                  <a:srgbClr val="424242"/>
                </a:solidFill>
                <a:latin typeface="Nunito"/>
                <a:ea typeface="Nunito"/>
                <a:cs typeface="Nunito"/>
                <a:sym typeface="Nunito"/>
              </a:rPr>
              <a:t>Internal testing: Perform regular penetration testing and security audits of your product to identify potential vulnerabilities that might not have been reported yet.</a:t>
            </a:r>
            <a:endParaRPr sz="1300">
              <a:solidFill>
                <a:srgbClr val="424242"/>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 sz="1300">
                <a:solidFill>
                  <a:srgbClr val="424242"/>
                </a:solidFill>
                <a:latin typeface="Nunito"/>
                <a:ea typeface="Nunito"/>
                <a:cs typeface="Nunito"/>
                <a:sym typeface="Nunito"/>
              </a:rPr>
              <a:t>Continuous improvement: Use the information gathered from the steps above to improve your product's security posture. This may involve updating components, modifying configurations, or even replacing certain components if necessary.</a:t>
            </a:r>
            <a:endParaRPr sz="1300">
              <a:solidFill>
                <a:srgbClr val="424242"/>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t/>
            </a:r>
            <a:endParaRPr sz="1300">
              <a:solidFill>
                <a:srgbClr val="424242"/>
              </a:solidFill>
              <a:latin typeface="Nunito"/>
              <a:ea typeface="Nunito"/>
              <a:cs typeface="Nunito"/>
              <a:sym typeface="Nunito"/>
            </a:endParaRPr>
          </a:p>
          <a:p>
            <a:pPr indent="0" lvl="0" marL="0" rtl="0" algn="l">
              <a:spcBef>
                <a:spcPts val="12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22c98bc5b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22c98bc5b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300">
                <a:solidFill>
                  <a:srgbClr val="424242"/>
                </a:solidFill>
                <a:latin typeface="Nunito"/>
                <a:ea typeface="Nunito"/>
                <a:cs typeface="Nunito"/>
                <a:sym typeface="Nunito"/>
              </a:rPr>
              <a:t>Periodic risk assessments: Conduct regular risk assessments to evaluate the potential impact of identified vulnerabilities on your product and prioritize the ones that need immediate attention.</a:t>
            </a:r>
            <a:endParaRPr sz="1300">
              <a:solidFill>
                <a:srgbClr val="424242"/>
              </a:solidFill>
              <a:latin typeface="Nunito"/>
              <a:ea typeface="Nunito"/>
              <a:cs typeface="Nunito"/>
              <a:sym typeface="Nunito"/>
            </a:endParaRPr>
          </a:p>
          <a:p>
            <a:pPr indent="0" lvl="0" marL="0" rtl="0" algn="l">
              <a:lnSpc>
                <a:spcPct val="115000"/>
              </a:lnSpc>
              <a:spcBef>
                <a:spcPts val="1200"/>
              </a:spcBef>
              <a:spcAft>
                <a:spcPts val="0"/>
              </a:spcAft>
              <a:buNone/>
            </a:pPr>
            <a:r>
              <a:rPr lang="en" sz="1300">
                <a:solidFill>
                  <a:srgbClr val="424242"/>
                </a:solidFill>
                <a:latin typeface="Nunito"/>
                <a:ea typeface="Nunito"/>
                <a:cs typeface="Nunito"/>
                <a:sym typeface="Nunito"/>
              </a:rPr>
              <a:t>Patch management: Develop a robust patch management process to ensure timely deployment of security updates and patches provided by the vendors.</a:t>
            </a:r>
            <a:endParaRPr sz="1300">
              <a:solidFill>
                <a:srgbClr val="424242"/>
              </a:solidFill>
              <a:latin typeface="Nunito"/>
              <a:ea typeface="Nunito"/>
              <a:cs typeface="Nunito"/>
              <a:sym typeface="Nunito"/>
            </a:endParaRPr>
          </a:p>
          <a:p>
            <a:pPr indent="0" lvl="0" marL="0" rtl="0" algn="l">
              <a:lnSpc>
                <a:spcPct val="115000"/>
              </a:lnSpc>
              <a:spcBef>
                <a:spcPts val="1200"/>
              </a:spcBef>
              <a:spcAft>
                <a:spcPts val="0"/>
              </a:spcAft>
              <a:buNone/>
            </a:pPr>
            <a:r>
              <a:rPr lang="en" sz="1300">
                <a:solidFill>
                  <a:srgbClr val="424242"/>
                </a:solidFill>
                <a:latin typeface="Nunito"/>
                <a:ea typeface="Nunito"/>
                <a:cs typeface="Nunito"/>
                <a:sym typeface="Nunito"/>
              </a:rPr>
              <a:t>Engage with the user community: Encourage users to report any security issues or vulnerabilities they discover in your product. Offer incentives like bug bounties to motivate users to help identify vulnerabilities.</a:t>
            </a:r>
            <a:endParaRPr sz="1300">
              <a:solidFill>
                <a:srgbClr val="424242"/>
              </a:solidFill>
              <a:latin typeface="Nunito"/>
              <a:ea typeface="Nunito"/>
              <a:cs typeface="Nunito"/>
              <a:sym typeface="Nunito"/>
            </a:endParaRPr>
          </a:p>
          <a:p>
            <a:pPr indent="0" lvl="0" marL="0" rtl="0" algn="l">
              <a:lnSpc>
                <a:spcPct val="115000"/>
              </a:lnSpc>
              <a:spcBef>
                <a:spcPts val="1200"/>
              </a:spcBef>
              <a:spcAft>
                <a:spcPts val="0"/>
              </a:spcAft>
              <a:buNone/>
            </a:pPr>
            <a:r>
              <a:rPr lang="en" sz="1300">
                <a:solidFill>
                  <a:srgbClr val="424242"/>
                </a:solidFill>
                <a:latin typeface="Nunito"/>
                <a:ea typeface="Nunito"/>
                <a:cs typeface="Nunito"/>
                <a:sym typeface="Nunito"/>
              </a:rPr>
              <a:t>Internal testing: Perform regular penetration testing and security audits of your product to identify potential vulnerabilities that might not have been reported yet.</a:t>
            </a:r>
            <a:endParaRPr sz="1300">
              <a:solidFill>
                <a:srgbClr val="424242"/>
              </a:solidFill>
              <a:latin typeface="Nunito"/>
              <a:ea typeface="Nunito"/>
              <a:cs typeface="Nunito"/>
              <a:sym typeface="Nunito"/>
            </a:endParaRPr>
          </a:p>
          <a:p>
            <a:pPr indent="0" lvl="0" marL="0" rtl="0" algn="l">
              <a:lnSpc>
                <a:spcPct val="115000"/>
              </a:lnSpc>
              <a:spcBef>
                <a:spcPts val="1200"/>
              </a:spcBef>
              <a:spcAft>
                <a:spcPts val="0"/>
              </a:spcAft>
              <a:buNone/>
            </a:pPr>
            <a:r>
              <a:rPr lang="en" sz="1300">
                <a:solidFill>
                  <a:srgbClr val="424242"/>
                </a:solidFill>
                <a:latin typeface="Nunito"/>
                <a:ea typeface="Nunito"/>
                <a:cs typeface="Nunito"/>
                <a:sym typeface="Nunito"/>
              </a:rPr>
              <a:t>Continuous improvement: Use the information gathered from the steps above to improve your product's security posture. This may involve updating components, modifying configurations, or even replacing certain components if necessary.</a:t>
            </a:r>
            <a:endParaRPr sz="1300">
              <a:solidFill>
                <a:srgbClr val="424242"/>
              </a:solidFill>
              <a:latin typeface="Nunito"/>
              <a:ea typeface="Nunito"/>
              <a:cs typeface="Nunito"/>
              <a:sym typeface="Nunito"/>
            </a:endParaRPr>
          </a:p>
          <a:p>
            <a:pPr indent="0" lvl="0" marL="0" rtl="0" algn="l">
              <a:lnSpc>
                <a:spcPct val="115000"/>
              </a:lnSpc>
              <a:spcBef>
                <a:spcPts val="1200"/>
              </a:spcBef>
              <a:spcAft>
                <a:spcPts val="0"/>
              </a:spcAft>
              <a:buNone/>
            </a:pPr>
            <a:r>
              <a:t/>
            </a:r>
            <a:endParaRPr sz="1300">
              <a:solidFill>
                <a:srgbClr val="424242"/>
              </a:solidFill>
              <a:latin typeface="Nunito"/>
              <a:ea typeface="Nunito"/>
              <a:cs typeface="Nunito"/>
              <a:sym typeface="Nunito"/>
            </a:endParaRPr>
          </a:p>
          <a:p>
            <a:pPr indent="0" lvl="0" marL="0" rtl="0" algn="l">
              <a:spcBef>
                <a:spcPts val="12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22c98bc5b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22c98bc5b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533400" rtl="0" algn="just">
              <a:spcBef>
                <a:spcPts val="0"/>
              </a:spcBef>
              <a:spcAft>
                <a:spcPts val="0"/>
              </a:spcAft>
              <a:buClr>
                <a:schemeClr val="dk1"/>
              </a:buClr>
              <a:buSzPts val="1100"/>
              <a:buFont typeface="Arial"/>
              <a:buNone/>
            </a:pPr>
            <a:r>
              <a:rPr b="1" lang="en">
                <a:solidFill>
                  <a:schemeClr val="dk1"/>
                </a:solidFill>
              </a:rPr>
              <a:t>Recommendations for Developers and Manufacturers of the Product</a:t>
            </a:r>
            <a:endParaRPr b="1">
              <a:solidFill>
                <a:schemeClr val="dk1"/>
              </a:solidFill>
            </a:endParaRPr>
          </a:p>
          <a:p>
            <a:pPr indent="-298450" lvl="0" marL="914400" rtl="0" algn="just">
              <a:spcBef>
                <a:spcPts val="400"/>
              </a:spcBef>
              <a:spcAft>
                <a:spcPts val="0"/>
              </a:spcAft>
              <a:buClr>
                <a:schemeClr val="dk1"/>
              </a:buClr>
              <a:buSzPts val="1100"/>
              <a:buFont typeface="Arial MT"/>
              <a:buAutoNum type="arabicPeriod"/>
            </a:pPr>
            <a:r>
              <a:rPr lang="en">
                <a:solidFill>
                  <a:schemeClr val="dk1"/>
                </a:solidFill>
                <a:latin typeface="Arial MT"/>
                <a:ea typeface="Arial MT"/>
                <a:cs typeface="Arial MT"/>
                <a:sym typeface="Arial MT"/>
              </a:rPr>
              <a:t>Regularly monitor and assess the latest security vulnerabilities and apply patches when available.</a:t>
            </a:r>
            <a:endParaRPr>
              <a:solidFill>
                <a:schemeClr val="dk1"/>
              </a:solidFill>
              <a:latin typeface="Arial MT"/>
              <a:ea typeface="Arial MT"/>
              <a:cs typeface="Arial MT"/>
              <a:sym typeface="Arial MT"/>
            </a:endParaRPr>
          </a:p>
          <a:p>
            <a:pPr indent="-298450" lvl="0" marL="914400" rtl="0" algn="just">
              <a:spcBef>
                <a:spcPts val="0"/>
              </a:spcBef>
              <a:spcAft>
                <a:spcPts val="0"/>
              </a:spcAft>
              <a:buClr>
                <a:schemeClr val="dk1"/>
              </a:buClr>
              <a:buSzPts val="1100"/>
              <a:buFont typeface="Arial MT"/>
              <a:buAutoNum type="arabicPeriod"/>
            </a:pPr>
            <a:r>
              <a:rPr lang="en">
                <a:solidFill>
                  <a:schemeClr val="dk1"/>
                </a:solidFill>
                <a:latin typeface="Arial MT"/>
                <a:ea typeface="Arial MT"/>
                <a:cs typeface="Arial MT"/>
                <a:sym typeface="Arial MT"/>
              </a:rPr>
              <a:t>Coordinate with third-party component vendors to ensure timely updates and vulnerability fixes.</a:t>
            </a:r>
            <a:endParaRPr>
              <a:solidFill>
                <a:schemeClr val="dk1"/>
              </a:solidFill>
              <a:latin typeface="Arial MT"/>
              <a:ea typeface="Arial MT"/>
              <a:cs typeface="Arial MT"/>
              <a:sym typeface="Arial MT"/>
            </a:endParaRPr>
          </a:p>
          <a:p>
            <a:pPr indent="-298450" lvl="0" marL="914400" rtl="0" algn="just">
              <a:spcBef>
                <a:spcPts val="0"/>
              </a:spcBef>
              <a:spcAft>
                <a:spcPts val="0"/>
              </a:spcAft>
              <a:buClr>
                <a:schemeClr val="dk1"/>
              </a:buClr>
              <a:buSzPts val="1100"/>
              <a:buFont typeface="Arial MT"/>
              <a:buAutoNum type="arabicPeriod"/>
            </a:pPr>
            <a:r>
              <a:rPr lang="en">
                <a:solidFill>
                  <a:schemeClr val="dk1"/>
                </a:solidFill>
                <a:latin typeface="Arial MT"/>
                <a:ea typeface="Arial MT"/>
                <a:cs typeface="Arial MT"/>
                <a:sym typeface="Arial MT"/>
              </a:rPr>
              <a:t>Implement secure coding practices and perform security audits to minimize implementation vulnerabilities.</a:t>
            </a:r>
            <a:endParaRPr>
              <a:solidFill>
                <a:schemeClr val="dk1"/>
              </a:solidFill>
              <a:latin typeface="Arial MT"/>
              <a:ea typeface="Arial MT"/>
              <a:cs typeface="Arial MT"/>
              <a:sym typeface="Arial MT"/>
            </a:endParaRPr>
          </a:p>
          <a:p>
            <a:pPr indent="-298450" lvl="0" marL="914400" rtl="0" algn="just">
              <a:spcBef>
                <a:spcPts val="0"/>
              </a:spcBef>
              <a:spcAft>
                <a:spcPts val="0"/>
              </a:spcAft>
              <a:buClr>
                <a:schemeClr val="dk1"/>
              </a:buClr>
              <a:buSzPts val="1100"/>
              <a:buFont typeface="Arial MT"/>
              <a:buAutoNum type="arabicPeriod"/>
            </a:pPr>
            <a:r>
              <a:rPr lang="en">
                <a:solidFill>
                  <a:schemeClr val="dk1"/>
                </a:solidFill>
                <a:latin typeface="Arial MT"/>
                <a:ea typeface="Arial MT"/>
                <a:cs typeface="Arial MT"/>
                <a:sym typeface="Arial MT"/>
              </a:rPr>
              <a:t>Develop and maintain a comprehensive security update and patch management process for the product.</a:t>
            </a:r>
            <a:endParaRPr>
              <a:solidFill>
                <a:schemeClr val="dk1"/>
              </a:solidFill>
              <a:latin typeface="Arial MT"/>
              <a:ea typeface="Arial MT"/>
              <a:cs typeface="Arial MT"/>
              <a:sym typeface="Arial MT"/>
            </a:endParaRPr>
          </a:p>
          <a:p>
            <a:pPr indent="-298450" lvl="0" marL="914400" rtl="0" algn="just">
              <a:spcBef>
                <a:spcPts val="0"/>
              </a:spcBef>
              <a:spcAft>
                <a:spcPts val="0"/>
              </a:spcAft>
              <a:buClr>
                <a:schemeClr val="dk1"/>
              </a:buClr>
              <a:buSzPts val="1100"/>
              <a:buFont typeface="Arial MT"/>
              <a:buAutoNum type="arabicPeriod"/>
            </a:pPr>
            <a:r>
              <a:rPr lang="en">
                <a:solidFill>
                  <a:schemeClr val="dk1"/>
                </a:solidFill>
                <a:latin typeface="Arial MT"/>
                <a:ea typeface="Arial MT"/>
                <a:cs typeface="Arial MT"/>
                <a:sym typeface="Arial MT"/>
              </a:rPr>
              <a:t>Provide clear and detailed security guidelines for end-users, including recommended configurations and best practices.</a:t>
            </a:r>
            <a:endParaRPr>
              <a:solidFill>
                <a:schemeClr val="dk1"/>
              </a:solidFill>
              <a:latin typeface="Arial MT"/>
              <a:ea typeface="Arial MT"/>
              <a:cs typeface="Arial MT"/>
              <a:sym typeface="Arial MT"/>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22c98bc5b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22c98bc5b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533400" rtl="0" algn="just">
              <a:spcBef>
                <a:spcPts val="0"/>
              </a:spcBef>
              <a:spcAft>
                <a:spcPts val="0"/>
              </a:spcAft>
              <a:buClr>
                <a:schemeClr val="dk1"/>
              </a:buClr>
              <a:buSzPts val="1100"/>
              <a:buFont typeface="Arial"/>
              <a:buNone/>
            </a:pPr>
            <a:r>
              <a:rPr b="1" lang="en">
                <a:solidFill>
                  <a:schemeClr val="dk1"/>
                </a:solidFill>
              </a:rPr>
              <a:t>Recommendations for End Users and Consumers of the Product</a:t>
            </a:r>
            <a:endParaRPr b="1">
              <a:solidFill>
                <a:schemeClr val="dk1"/>
              </a:solidFill>
            </a:endParaRPr>
          </a:p>
          <a:p>
            <a:pPr indent="-298450" lvl="0" marL="914400" marR="74930" rtl="0" algn="just">
              <a:lnSpc>
                <a:spcPct val="107916"/>
              </a:lnSpc>
              <a:spcBef>
                <a:spcPts val="400"/>
              </a:spcBef>
              <a:spcAft>
                <a:spcPts val="0"/>
              </a:spcAft>
              <a:buClr>
                <a:schemeClr val="dk1"/>
              </a:buClr>
              <a:buSzPts val="1100"/>
              <a:buFont typeface="Arial MT"/>
              <a:buAutoNum type="arabicPeriod"/>
            </a:pPr>
            <a:r>
              <a:rPr lang="en">
                <a:solidFill>
                  <a:schemeClr val="dk1"/>
                </a:solidFill>
                <a:latin typeface="Arial MT"/>
                <a:ea typeface="Arial MT"/>
                <a:cs typeface="Arial MT"/>
                <a:sym typeface="Arial MT"/>
              </a:rPr>
              <a:t>Regularly update the Tenda Beli SP3 Smart WiFi Plug firmware and associated apps to ensure the latest security patches are applied.</a:t>
            </a:r>
            <a:endParaRPr>
              <a:solidFill>
                <a:schemeClr val="dk1"/>
              </a:solidFill>
              <a:latin typeface="Arial MT"/>
              <a:ea typeface="Arial MT"/>
              <a:cs typeface="Arial MT"/>
              <a:sym typeface="Arial MT"/>
            </a:endParaRPr>
          </a:p>
          <a:p>
            <a:pPr indent="-298450" lvl="0" marL="914400" marR="74930" rtl="0" algn="just">
              <a:lnSpc>
                <a:spcPct val="107916"/>
              </a:lnSpc>
              <a:spcBef>
                <a:spcPts val="0"/>
              </a:spcBef>
              <a:spcAft>
                <a:spcPts val="0"/>
              </a:spcAft>
              <a:buClr>
                <a:schemeClr val="dk1"/>
              </a:buClr>
              <a:buSzPts val="1100"/>
              <a:buFont typeface="Arial MT"/>
              <a:buAutoNum type="arabicPeriod"/>
            </a:pPr>
            <a:r>
              <a:rPr lang="en">
                <a:solidFill>
                  <a:schemeClr val="dk1"/>
                </a:solidFill>
                <a:latin typeface="Arial MT"/>
                <a:ea typeface="Arial MT"/>
                <a:cs typeface="Arial MT"/>
                <a:sym typeface="Arial MT"/>
              </a:rPr>
              <a:t>Follow the manufacturer's security guidelines and best practices for configuring and using the device.</a:t>
            </a:r>
            <a:endParaRPr>
              <a:solidFill>
                <a:schemeClr val="dk1"/>
              </a:solidFill>
              <a:latin typeface="Arial MT"/>
              <a:ea typeface="Arial MT"/>
              <a:cs typeface="Arial MT"/>
              <a:sym typeface="Arial MT"/>
            </a:endParaRPr>
          </a:p>
          <a:p>
            <a:pPr indent="-298450" lvl="0" marL="914400" marR="74930" rtl="0" algn="just">
              <a:lnSpc>
                <a:spcPct val="107916"/>
              </a:lnSpc>
              <a:spcBef>
                <a:spcPts val="0"/>
              </a:spcBef>
              <a:spcAft>
                <a:spcPts val="0"/>
              </a:spcAft>
              <a:buClr>
                <a:schemeClr val="dk1"/>
              </a:buClr>
              <a:buSzPts val="1100"/>
              <a:buFont typeface="Arial MT"/>
              <a:buAutoNum type="arabicPeriod"/>
            </a:pPr>
            <a:r>
              <a:rPr lang="en">
                <a:solidFill>
                  <a:schemeClr val="dk1"/>
                </a:solidFill>
                <a:latin typeface="Arial MT"/>
                <a:ea typeface="Arial MT"/>
                <a:cs typeface="Arial MT"/>
                <a:sym typeface="Arial MT"/>
              </a:rPr>
              <a:t>Use strong and unique passwords for the device and associated accounts.</a:t>
            </a:r>
            <a:endParaRPr>
              <a:solidFill>
                <a:schemeClr val="dk1"/>
              </a:solidFill>
              <a:latin typeface="Arial MT"/>
              <a:ea typeface="Arial MT"/>
              <a:cs typeface="Arial MT"/>
              <a:sym typeface="Arial MT"/>
            </a:endParaRPr>
          </a:p>
          <a:p>
            <a:pPr indent="-298450" lvl="0" marL="914400" marR="74930" rtl="0" algn="just">
              <a:lnSpc>
                <a:spcPct val="107916"/>
              </a:lnSpc>
              <a:spcBef>
                <a:spcPts val="0"/>
              </a:spcBef>
              <a:spcAft>
                <a:spcPts val="0"/>
              </a:spcAft>
              <a:buClr>
                <a:schemeClr val="dk1"/>
              </a:buClr>
              <a:buSzPts val="1100"/>
              <a:buFont typeface="Arial MT"/>
              <a:buAutoNum type="arabicPeriod"/>
            </a:pPr>
            <a:r>
              <a:rPr lang="en">
                <a:solidFill>
                  <a:schemeClr val="dk1"/>
                </a:solidFill>
                <a:latin typeface="Arial MT"/>
                <a:ea typeface="Arial MT"/>
                <a:cs typeface="Arial MT"/>
                <a:sym typeface="Arial MT"/>
              </a:rPr>
              <a:t>Keep other connected devices, such as smartphones and routers, updated to minimize potential attack vectors.</a:t>
            </a:r>
            <a:endParaRPr>
              <a:solidFill>
                <a:schemeClr val="dk1"/>
              </a:solidFill>
              <a:latin typeface="Arial MT"/>
              <a:ea typeface="Arial MT"/>
              <a:cs typeface="Arial MT"/>
              <a:sym typeface="Arial MT"/>
            </a:endParaRPr>
          </a:p>
          <a:p>
            <a:pPr indent="-298450" lvl="0" marL="914400" marR="74930" rtl="0" algn="just">
              <a:lnSpc>
                <a:spcPct val="107916"/>
              </a:lnSpc>
              <a:spcBef>
                <a:spcPts val="0"/>
              </a:spcBef>
              <a:spcAft>
                <a:spcPts val="0"/>
              </a:spcAft>
              <a:buClr>
                <a:schemeClr val="dk1"/>
              </a:buClr>
              <a:buSzPts val="1100"/>
              <a:buFont typeface="Arial MT"/>
              <a:buAutoNum type="arabicPeriod"/>
            </a:pPr>
            <a:r>
              <a:rPr lang="en">
                <a:solidFill>
                  <a:schemeClr val="dk1"/>
                </a:solidFill>
                <a:latin typeface="Arial MT"/>
                <a:ea typeface="Arial MT"/>
                <a:cs typeface="Arial MT"/>
                <a:sym typeface="Arial MT"/>
              </a:rPr>
              <a:t>Be cautious when connecting to public WiFi networks and consider using a VPN to secure your connection.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22c98bc5b2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22c98bc5b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533400" rtl="0" algn="just">
              <a:spcBef>
                <a:spcPts val="395"/>
              </a:spcBef>
              <a:spcAft>
                <a:spcPts val="0"/>
              </a:spcAft>
              <a:buNone/>
            </a:pPr>
            <a:r>
              <a:rPr lang="en">
                <a:solidFill>
                  <a:schemeClr val="dk1"/>
                </a:solidFill>
                <a:latin typeface="Arial MT"/>
                <a:ea typeface="Arial MT"/>
                <a:cs typeface="Arial MT"/>
                <a:sym typeface="Arial MT"/>
              </a:rPr>
              <a:t>The Tenda Beli SP3 Smart WiFi Plug is a device designed to remotely control electronic appliances via a WiFi connection. The device incorporates several software components from various vendors, including RealTek, Google, Apple, and Amazon Web Services. While the manufacturers have taken security measures to minimize vulnerabilities, some residual vulnerabilities remain</a:t>
            </a:r>
            <a:endParaRPr>
              <a:solidFill>
                <a:schemeClr val="dk1"/>
              </a:solidFill>
              <a:latin typeface="Arial MT"/>
              <a:ea typeface="Arial MT"/>
              <a:cs typeface="Arial MT"/>
              <a:sym typeface="Arial MT"/>
            </a:endParaRPr>
          </a:p>
          <a:p>
            <a:pPr indent="0" lvl="0" marL="533400" rtl="0" algn="just">
              <a:spcBef>
                <a:spcPts val="395"/>
              </a:spcBef>
              <a:spcAft>
                <a:spcPts val="0"/>
              </a:spcAft>
              <a:buNone/>
            </a:pPr>
            <a:r>
              <a:t/>
            </a:r>
            <a:endParaRPr>
              <a:solidFill>
                <a:schemeClr val="dk1"/>
              </a:solidFill>
              <a:latin typeface="Arial MT"/>
              <a:ea typeface="Arial MT"/>
              <a:cs typeface="Arial MT"/>
              <a:sym typeface="Arial MT"/>
            </a:endParaRPr>
          </a:p>
          <a:p>
            <a:pPr indent="0" lvl="0" marL="533400" rtl="0" algn="just">
              <a:spcBef>
                <a:spcPts val="395"/>
              </a:spcBef>
              <a:spcAft>
                <a:spcPts val="0"/>
              </a:spcAft>
              <a:buClr>
                <a:schemeClr val="dk1"/>
              </a:buClr>
              <a:buSzPts val="1100"/>
              <a:buFont typeface="Arial"/>
              <a:buNone/>
            </a:pPr>
            <a:r>
              <a:rPr lang="en" sz="1200">
                <a:solidFill>
                  <a:srgbClr val="333333"/>
                </a:solidFill>
                <a:highlight>
                  <a:srgbClr val="FFFFFF"/>
                </a:highlight>
                <a:latin typeface="Georgia"/>
                <a:ea typeface="Georgia"/>
                <a:cs typeface="Georgia"/>
                <a:sym typeface="Georgia"/>
              </a:rPr>
              <a:t>Oddly enough, this is a case of where </a:t>
            </a:r>
            <a:r>
              <a:rPr i="1" lang="en" sz="1200">
                <a:solidFill>
                  <a:srgbClr val="333333"/>
                </a:solidFill>
                <a:highlight>
                  <a:srgbClr val="FFFFFF"/>
                </a:highlight>
                <a:latin typeface="Georgia"/>
                <a:ea typeface="Georgia"/>
                <a:cs typeface="Georgia"/>
                <a:sym typeface="Georgia"/>
              </a:rPr>
              <a:t>less </a:t>
            </a:r>
            <a:r>
              <a:rPr lang="en" sz="1200">
                <a:solidFill>
                  <a:srgbClr val="333333"/>
                </a:solidFill>
                <a:highlight>
                  <a:srgbClr val="FFFFFF"/>
                </a:highlight>
                <a:latin typeface="Georgia"/>
                <a:ea typeface="Georgia"/>
                <a:cs typeface="Georgia"/>
                <a:sym typeface="Georgia"/>
              </a:rPr>
              <a:t>security might make the product more desirable for adaptation</a:t>
            </a:r>
            <a:endParaRPr>
              <a:solidFill>
                <a:schemeClr val="dk1"/>
              </a:solidFill>
              <a:latin typeface="Arial MT"/>
              <a:ea typeface="Arial MT"/>
              <a:cs typeface="Arial MT"/>
              <a:sym typeface="Arial MT"/>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22c98bc5b2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22c98bc5b2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goughlui.com/2020/02/22/reverse-engineer-tenda-beli-sp3-smart-wi-fi-plug-protocol/" TargetMode="External"/><Relationship Id="rId4" Type="http://schemas.openxmlformats.org/officeDocument/2006/relationships/image" Target="../media/image9.jpg"/><Relationship Id="rId5"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Product Security Report for A WiFi Smart Plug</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Nunito"/>
                <a:ea typeface="Nunito"/>
                <a:cs typeface="Nunito"/>
                <a:sym typeface="Nunito"/>
              </a:rPr>
              <a:t>About</a:t>
            </a:r>
            <a:r>
              <a:rPr lang="en">
                <a:latin typeface="Nunito"/>
                <a:ea typeface="Nunito"/>
                <a:cs typeface="Nunito"/>
                <a:sym typeface="Nunito"/>
              </a:rPr>
              <a:t> the product </a:t>
            </a:r>
            <a:endParaRPr>
              <a:latin typeface="Nunito"/>
              <a:ea typeface="Nunito"/>
              <a:cs typeface="Nunito"/>
              <a:sym typeface="Nunito"/>
            </a:endParaRPr>
          </a:p>
        </p:txBody>
      </p:sp>
      <p:pic>
        <p:nvPicPr>
          <p:cNvPr id="61" name="Google Shape;61;p14"/>
          <p:cNvPicPr preferRelativeResize="0"/>
          <p:nvPr/>
        </p:nvPicPr>
        <p:blipFill>
          <a:blip r:embed="rId3">
            <a:alphaModFix/>
          </a:blip>
          <a:stretch>
            <a:fillRect/>
          </a:stretch>
        </p:blipFill>
        <p:spPr>
          <a:xfrm>
            <a:off x="5172975" y="1066725"/>
            <a:ext cx="3782025" cy="3782025"/>
          </a:xfrm>
          <a:prstGeom prst="rect">
            <a:avLst/>
          </a:prstGeom>
          <a:noFill/>
          <a:ln>
            <a:noFill/>
          </a:ln>
        </p:spPr>
      </p:pic>
      <p:sp>
        <p:nvSpPr>
          <p:cNvPr id="62" name="Google Shape;62;p14"/>
          <p:cNvSpPr txBox="1"/>
          <p:nvPr/>
        </p:nvSpPr>
        <p:spPr>
          <a:xfrm>
            <a:off x="431125" y="1490875"/>
            <a:ext cx="4423500" cy="2801400"/>
          </a:xfrm>
          <a:prstGeom prst="rect">
            <a:avLst/>
          </a:prstGeom>
          <a:noFill/>
          <a:ln>
            <a:noFill/>
          </a:ln>
        </p:spPr>
        <p:txBody>
          <a:bodyPr anchorCtr="0" anchor="t" bIns="91425" lIns="91425" spcFirstLastPara="1" rIns="91425" wrap="square" tIns="91425">
            <a:spAutoFit/>
          </a:bodyPr>
          <a:lstStyle/>
          <a:p>
            <a:pPr indent="-355600" lvl="0" marL="457200" rtl="0" algn="l">
              <a:lnSpc>
                <a:spcPct val="150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Turns </a:t>
            </a:r>
            <a:r>
              <a:rPr lang="en" sz="2000">
                <a:solidFill>
                  <a:schemeClr val="dk1"/>
                </a:solidFill>
                <a:latin typeface="Nunito"/>
                <a:ea typeface="Nunito"/>
                <a:cs typeface="Nunito"/>
                <a:sym typeface="Nunito"/>
              </a:rPr>
              <a:t>electronics off or on from anywhere</a:t>
            </a:r>
            <a:endParaRPr sz="2000">
              <a:solidFill>
                <a:schemeClr val="dk1"/>
              </a:solidFill>
              <a:latin typeface="Nunito"/>
              <a:ea typeface="Nunito"/>
              <a:cs typeface="Nunito"/>
              <a:sym typeface="Nunito"/>
            </a:endParaRPr>
          </a:p>
          <a:p>
            <a:pPr indent="-355600" lvl="0" marL="457200" rtl="0" algn="l">
              <a:lnSpc>
                <a:spcPct val="150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Works directly with Amazon Alexa and Google Assistant</a:t>
            </a:r>
            <a:endParaRPr sz="2000">
              <a:solidFill>
                <a:schemeClr val="dk1"/>
              </a:solidFill>
              <a:latin typeface="Nunito"/>
              <a:ea typeface="Nunito"/>
              <a:cs typeface="Nunito"/>
              <a:sym typeface="Nunito"/>
            </a:endParaRPr>
          </a:p>
          <a:p>
            <a:pPr indent="-355600" lvl="0" marL="457200" rtl="0" algn="l">
              <a:lnSpc>
                <a:spcPct val="150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Schedule things in advance </a:t>
            </a:r>
            <a:endParaRPr sz="2000">
              <a:solidFill>
                <a:schemeClr val="dk1"/>
              </a:solidFill>
              <a:latin typeface="Nunito"/>
              <a:ea typeface="Nunito"/>
              <a:cs typeface="Nunito"/>
              <a:sym typeface="Nunito"/>
            </a:endParaRPr>
          </a:p>
          <a:p>
            <a:pPr indent="-355600" lvl="0" marL="457200" rtl="0" algn="l">
              <a:lnSpc>
                <a:spcPct val="150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Monitor energy usage</a:t>
            </a:r>
            <a:endParaRPr sz="2000">
              <a:solidFill>
                <a:schemeClr val="dk1"/>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id="67" name="Google Shape;67;p15"/>
          <p:cNvPicPr preferRelativeResize="0"/>
          <p:nvPr/>
        </p:nvPicPr>
        <p:blipFill>
          <a:blip r:embed="rId3">
            <a:alphaModFix/>
          </a:blip>
          <a:stretch>
            <a:fillRect/>
          </a:stretch>
        </p:blipFill>
        <p:spPr>
          <a:xfrm>
            <a:off x="149775" y="212275"/>
            <a:ext cx="8906676" cy="4834701"/>
          </a:xfrm>
          <a:prstGeom prst="rect">
            <a:avLst/>
          </a:prstGeom>
          <a:noFill/>
          <a:ln>
            <a:noFill/>
          </a:ln>
        </p:spPr>
      </p:pic>
      <p:sp>
        <p:nvSpPr>
          <p:cNvPr id="68" name="Google Shape;68;p15"/>
          <p:cNvSpPr txBox="1"/>
          <p:nvPr>
            <p:ph type="title"/>
          </p:nvPr>
        </p:nvSpPr>
        <p:spPr>
          <a:xfrm>
            <a:off x="311700" y="445025"/>
            <a:ext cx="3398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620">
                <a:latin typeface="Nunito"/>
                <a:ea typeface="Nunito"/>
                <a:cs typeface="Nunito"/>
                <a:sym typeface="Nunito"/>
              </a:rPr>
              <a:t>Data Flow Diagram</a:t>
            </a:r>
            <a:endParaRPr b="1" sz="2620">
              <a:latin typeface="Nunito"/>
              <a:ea typeface="Nunito"/>
              <a:cs typeface="Nunito"/>
              <a:sym typeface="Nunito"/>
            </a:endParaRPr>
          </a:p>
        </p:txBody>
      </p:sp>
      <p:sp>
        <p:nvSpPr>
          <p:cNvPr id="69" name="Google Shape;69;p15"/>
          <p:cNvSpPr txBox="1"/>
          <p:nvPr/>
        </p:nvSpPr>
        <p:spPr>
          <a:xfrm>
            <a:off x="1762175" y="2451650"/>
            <a:ext cx="528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Nunito"/>
                <a:ea typeface="Nunito"/>
                <a:cs typeface="Nunito"/>
                <a:sym typeface="Nunito"/>
              </a:rPr>
              <a:t>Requirements</a:t>
            </a:r>
            <a:endParaRPr b="1">
              <a:latin typeface="Nunito"/>
              <a:ea typeface="Nunito"/>
              <a:cs typeface="Nunito"/>
              <a:sym typeface="Nunito"/>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Flash </a:t>
            </a:r>
            <a:r>
              <a:rPr lang="en" sz="2000">
                <a:solidFill>
                  <a:schemeClr val="dk1"/>
                </a:solidFill>
                <a:latin typeface="Nunito"/>
                <a:ea typeface="Nunito"/>
                <a:cs typeface="Nunito"/>
                <a:sym typeface="Nunito"/>
              </a:rPr>
              <a:t>Memory</a:t>
            </a:r>
            <a:r>
              <a:rPr lang="en" sz="2000">
                <a:solidFill>
                  <a:schemeClr val="dk1"/>
                </a:solidFill>
                <a:latin typeface="Nunito"/>
                <a:ea typeface="Nunito"/>
                <a:cs typeface="Nunito"/>
                <a:sym typeface="Nunito"/>
              </a:rPr>
              <a:t> </a:t>
            </a:r>
            <a:endParaRPr sz="2000">
              <a:solidFill>
                <a:schemeClr val="dk1"/>
              </a:solidFill>
              <a:latin typeface="Nunito"/>
              <a:ea typeface="Nunito"/>
              <a:cs typeface="Nunito"/>
              <a:sym typeface="Nunito"/>
            </a:endParaRPr>
          </a:p>
          <a:p>
            <a:pPr indent="-355600" lvl="0" marL="457200" rtl="0" algn="l">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Microcontroller </a:t>
            </a:r>
            <a:endParaRPr sz="2000">
              <a:solidFill>
                <a:schemeClr val="dk1"/>
              </a:solidFill>
              <a:latin typeface="Nunito"/>
              <a:ea typeface="Nunito"/>
              <a:cs typeface="Nunito"/>
              <a:sym typeface="Nunito"/>
            </a:endParaRPr>
          </a:p>
          <a:p>
            <a:pPr indent="-355600" lvl="0" marL="457200" rtl="0" algn="l">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Wifi module </a:t>
            </a:r>
            <a:endParaRPr sz="2000">
              <a:solidFill>
                <a:schemeClr val="dk1"/>
              </a:solidFill>
              <a:latin typeface="Nunito"/>
              <a:ea typeface="Nunito"/>
              <a:cs typeface="Nunito"/>
              <a:sym typeface="Nunito"/>
            </a:endParaRPr>
          </a:p>
          <a:p>
            <a:pPr indent="-355600" lvl="0" marL="457200" rtl="0" algn="l">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RF </a:t>
            </a:r>
            <a:r>
              <a:rPr lang="en" sz="2000">
                <a:solidFill>
                  <a:schemeClr val="dk1"/>
                </a:solidFill>
                <a:latin typeface="Nunito"/>
                <a:ea typeface="Nunito"/>
                <a:cs typeface="Nunito"/>
                <a:sym typeface="Nunito"/>
              </a:rPr>
              <a:t>transceiver</a:t>
            </a:r>
            <a:r>
              <a:rPr lang="en" sz="2000">
                <a:solidFill>
                  <a:schemeClr val="dk1"/>
                </a:solidFill>
                <a:latin typeface="Nunito"/>
                <a:ea typeface="Nunito"/>
                <a:cs typeface="Nunito"/>
                <a:sym typeface="Nunito"/>
              </a:rPr>
              <a:t> </a:t>
            </a:r>
            <a:endParaRPr sz="2000">
              <a:solidFill>
                <a:schemeClr val="dk1"/>
              </a:solidFill>
              <a:latin typeface="Nunito"/>
              <a:ea typeface="Nunito"/>
              <a:cs typeface="Nunito"/>
              <a:sym typeface="Nunito"/>
            </a:endParaRPr>
          </a:p>
          <a:p>
            <a:pPr indent="-355600" lvl="0" marL="457200" rtl="0" algn="l">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Electrical relay </a:t>
            </a:r>
            <a:endParaRPr sz="2000">
              <a:solidFill>
                <a:schemeClr val="dk1"/>
              </a:solidFill>
              <a:latin typeface="Nunito"/>
              <a:ea typeface="Nunito"/>
              <a:cs typeface="Nunito"/>
              <a:sym typeface="Nunito"/>
            </a:endParaRPr>
          </a:p>
          <a:p>
            <a:pPr indent="-355600" lvl="0" marL="457200" rtl="0" algn="l">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User input push button </a:t>
            </a:r>
            <a:endParaRPr sz="2000">
              <a:solidFill>
                <a:schemeClr val="dk1"/>
              </a:solidFill>
              <a:latin typeface="Nunito"/>
              <a:ea typeface="Nunito"/>
              <a:cs typeface="Nunito"/>
              <a:sym typeface="Nunito"/>
            </a:endParaRPr>
          </a:p>
          <a:p>
            <a:pPr indent="-355600" lvl="0" marL="457200" rtl="0" algn="l">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Smartphone app with wifi connectivity </a:t>
            </a:r>
            <a:endParaRPr sz="2000">
              <a:solidFill>
                <a:schemeClr val="dk1"/>
              </a:solidFill>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1303788" y="131000"/>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latin typeface="Nunito"/>
                <a:ea typeface="Nunito"/>
                <a:cs typeface="Nunito"/>
                <a:sym typeface="Nunito"/>
              </a:rPr>
              <a:t>Threat Model DFD</a:t>
            </a:r>
            <a:endParaRPr b="1">
              <a:latin typeface="Nunito"/>
              <a:ea typeface="Nunito"/>
              <a:cs typeface="Nunito"/>
              <a:sym typeface="Nunito"/>
            </a:endParaRPr>
          </a:p>
        </p:txBody>
      </p:sp>
      <p:pic>
        <p:nvPicPr>
          <p:cNvPr id="81" name="Google Shape;81;p17"/>
          <p:cNvPicPr preferRelativeResize="0"/>
          <p:nvPr/>
        </p:nvPicPr>
        <p:blipFill>
          <a:blip r:embed="rId3">
            <a:alphaModFix/>
          </a:blip>
          <a:stretch>
            <a:fillRect/>
          </a:stretch>
        </p:blipFill>
        <p:spPr>
          <a:xfrm>
            <a:off x="1499375" y="758350"/>
            <a:ext cx="6145249" cy="4253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Nunito"/>
                <a:ea typeface="Nunito"/>
                <a:cs typeface="Nunito"/>
                <a:sym typeface="Nunito"/>
              </a:rPr>
              <a:t>Threat Modeling Report</a:t>
            </a:r>
            <a:endParaRPr b="1">
              <a:latin typeface="Nunito"/>
              <a:ea typeface="Nunito"/>
              <a:cs typeface="Nunito"/>
              <a:sym typeface="Nunito"/>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solidFill>
                  <a:schemeClr val="dk1"/>
                </a:solidFill>
                <a:latin typeface="Nunito"/>
                <a:ea typeface="Nunito"/>
                <a:cs typeface="Nunito"/>
                <a:sym typeface="Nunito"/>
              </a:rPr>
              <a:t>Based on the Threat Modeling Data Flow Diagram</a:t>
            </a:r>
            <a:endParaRPr sz="2000">
              <a:solidFill>
                <a:schemeClr val="dk1"/>
              </a:solidFill>
              <a:latin typeface="Nunito"/>
              <a:ea typeface="Nunito"/>
              <a:cs typeface="Nunito"/>
              <a:sym typeface="Nunito"/>
            </a:endParaRPr>
          </a:p>
          <a:p>
            <a:pPr indent="-355600" lvl="0" marL="457200" rtl="0" algn="l">
              <a:spcBef>
                <a:spcPts val="1200"/>
              </a:spcBef>
              <a:spcAft>
                <a:spcPts val="0"/>
              </a:spcAft>
              <a:buClr>
                <a:schemeClr val="dk1"/>
              </a:buClr>
              <a:buSzPts val="2000"/>
              <a:buFont typeface="Nunito"/>
              <a:buChar char="●"/>
            </a:pPr>
            <a:r>
              <a:rPr lang="en" sz="2000">
                <a:solidFill>
                  <a:schemeClr val="dk1"/>
                </a:solidFill>
                <a:latin typeface="Nunito"/>
                <a:ea typeface="Nunito"/>
                <a:cs typeface="Nunito"/>
                <a:sym typeface="Nunito"/>
              </a:rPr>
              <a:t>Total 149 threats were identified by the Microsoft Threat Modeling tool.</a:t>
            </a:r>
            <a:endParaRPr sz="2000">
              <a:solidFill>
                <a:schemeClr val="dk1"/>
              </a:solidFill>
              <a:latin typeface="Nunito"/>
              <a:ea typeface="Nunito"/>
              <a:cs typeface="Nunito"/>
              <a:sym typeface="Nunito"/>
            </a:endParaRPr>
          </a:p>
          <a:p>
            <a:pPr indent="0" lvl="0" marL="457200" rtl="0" algn="l">
              <a:spcBef>
                <a:spcPts val="1200"/>
              </a:spcBef>
              <a:spcAft>
                <a:spcPts val="0"/>
              </a:spcAft>
              <a:buNone/>
            </a:pPr>
            <a:r>
              <a:t/>
            </a:r>
            <a:endParaRPr sz="2000">
              <a:solidFill>
                <a:schemeClr val="dk1"/>
              </a:solidFill>
              <a:latin typeface="Nunito"/>
              <a:ea typeface="Nunito"/>
              <a:cs typeface="Nunito"/>
              <a:sym typeface="Nunito"/>
            </a:endParaRPr>
          </a:p>
          <a:p>
            <a:pPr indent="-355600" lvl="0" marL="457200" rtl="0" algn="l">
              <a:spcBef>
                <a:spcPts val="1200"/>
              </a:spcBef>
              <a:spcAft>
                <a:spcPts val="0"/>
              </a:spcAft>
              <a:buClr>
                <a:schemeClr val="dk1"/>
              </a:buClr>
              <a:buSzPts val="2000"/>
              <a:buFont typeface="Nunito"/>
              <a:buChar char="●"/>
            </a:pPr>
            <a:r>
              <a:rPr lang="en" sz="2000">
                <a:solidFill>
                  <a:schemeClr val="dk1"/>
                </a:solidFill>
                <a:latin typeface="Nunito"/>
                <a:ea typeface="Nunito"/>
                <a:cs typeface="Nunito"/>
                <a:sym typeface="Nunito"/>
              </a:rPr>
              <a:t>Shortlisted the most important 28 threats, and performed Vulnerability Assessment (Pre &amp; Post Mitigation). </a:t>
            </a:r>
            <a:endParaRPr sz="2000">
              <a:solidFill>
                <a:schemeClr val="dk1"/>
              </a:solidFill>
              <a:latin typeface="Nunito"/>
              <a:ea typeface="Nunito"/>
              <a:cs typeface="Nunito"/>
              <a:sym typeface="Nuni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Nunito"/>
                <a:ea typeface="Nunito"/>
                <a:cs typeface="Nunito"/>
                <a:sym typeface="Nunito"/>
              </a:rPr>
              <a:t>Testing &amp; Research</a:t>
            </a:r>
            <a:endParaRPr b="1">
              <a:latin typeface="Nunito"/>
              <a:ea typeface="Nunito"/>
              <a:cs typeface="Nunito"/>
              <a:sym typeface="Nunito"/>
            </a:endParaRPr>
          </a:p>
        </p:txBody>
      </p:sp>
      <p:sp>
        <p:nvSpPr>
          <p:cNvPr id="93" name="Google Shape;93;p19"/>
          <p:cNvSpPr txBox="1"/>
          <p:nvPr>
            <p:ph idx="1" type="body"/>
          </p:nvPr>
        </p:nvSpPr>
        <p:spPr>
          <a:xfrm>
            <a:off x="311700" y="1665625"/>
            <a:ext cx="8520600" cy="29034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SzPts val="2100"/>
              <a:buFont typeface="Nunito"/>
              <a:buChar char="●"/>
            </a:pPr>
            <a:r>
              <a:rPr lang="en" sz="2100">
                <a:latin typeface="Nunito"/>
                <a:ea typeface="Nunito"/>
                <a:cs typeface="Nunito"/>
                <a:sym typeface="Nunito"/>
              </a:rPr>
              <a:t>Tools</a:t>
            </a:r>
            <a:endParaRPr sz="2100">
              <a:latin typeface="Nunito"/>
              <a:ea typeface="Nunito"/>
              <a:cs typeface="Nunito"/>
              <a:sym typeface="Nunito"/>
            </a:endParaRPr>
          </a:p>
          <a:p>
            <a:pPr indent="-336550" lvl="1" marL="914400" rtl="0" algn="l">
              <a:spcBef>
                <a:spcPts val="0"/>
              </a:spcBef>
              <a:spcAft>
                <a:spcPts val="0"/>
              </a:spcAft>
              <a:buSzPts val="1700"/>
              <a:buFont typeface="Nunito"/>
              <a:buChar char="○"/>
            </a:pPr>
            <a:r>
              <a:rPr lang="en" sz="1700">
                <a:latin typeface="Nunito"/>
                <a:ea typeface="Nunito"/>
                <a:cs typeface="Nunito"/>
                <a:sym typeface="Nunito"/>
              </a:rPr>
              <a:t>A computer</a:t>
            </a:r>
            <a:endParaRPr sz="1700">
              <a:latin typeface="Nunito"/>
              <a:ea typeface="Nunito"/>
              <a:cs typeface="Nunito"/>
              <a:sym typeface="Nunito"/>
            </a:endParaRPr>
          </a:p>
          <a:p>
            <a:pPr indent="-336550" lvl="1" marL="914400" rtl="0" algn="l">
              <a:spcBef>
                <a:spcPts val="0"/>
              </a:spcBef>
              <a:spcAft>
                <a:spcPts val="0"/>
              </a:spcAft>
              <a:buSzPts val="1700"/>
              <a:buFont typeface="Nunito"/>
              <a:buChar char="○"/>
            </a:pPr>
            <a:r>
              <a:rPr lang="en" sz="1700">
                <a:latin typeface="Nunito"/>
                <a:ea typeface="Nunito"/>
                <a:cs typeface="Nunito"/>
                <a:sym typeface="Nunito"/>
              </a:rPr>
              <a:t>USB to Serial Adapter</a:t>
            </a:r>
            <a:endParaRPr sz="1700">
              <a:latin typeface="Nunito"/>
              <a:ea typeface="Nunito"/>
              <a:cs typeface="Nunito"/>
              <a:sym typeface="Nunito"/>
            </a:endParaRPr>
          </a:p>
          <a:p>
            <a:pPr indent="-336550" lvl="1" marL="914400" rtl="0" algn="l">
              <a:spcBef>
                <a:spcPts val="0"/>
              </a:spcBef>
              <a:spcAft>
                <a:spcPts val="0"/>
              </a:spcAft>
              <a:buSzPts val="1700"/>
              <a:buFont typeface="Nunito"/>
              <a:buChar char="○"/>
            </a:pPr>
            <a:r>
              <a:rPr lang="en" sz="1700">
                <a:latin typeface="Nunito"/>
                <a:ea typeface="Nunito"/>
                <a:cs typeface="Nunito"/>
                <a:sym typeface="Nunito"/>
              </a:rPr>
              <a:t>Logic Analyzer</a:t>
            </a:r>
            <a:endParaRPr sz="1700">
              <a:latin typeface="Nunito"/>
              <a:ea typeface="Nunito"/>
              <a:cs typeface="Nunito"/>
              <a:sym typeface="Nunito"/>
            </a:endParaRPr>
          </a:p>
          <a:p>
            <a:pPr indent="-336550" lvl="1" marL="914400" rtl="0" algn="l">
              <a:spcBef>
                <a:spcPts val="0"/>
              </a:spcBef>
              <a:spcAft>
                <a:spcPts val="0"/>
              </a:spcAft>
              <a:buSzPts val="1700"/>
              <a:buFont typeface="Nunito"/>
              <a:buChar char="○"/>
            </a:pPr>
            <a:r>
              <a:rPr lang="en" sz="1700">
                <a:latin typeface="Nunito"/>
                <a:ea typeface="Nunito"/>
                <a:cs typeface="Nunito"/>
                <a:sym typeface="Nunito"/>
              </a:rPr>
              <a:t>Wireshark</a:t>
            </a:r>
            <a:endParaRPr sz="1700">
              <a:latin typeface="Nunito"/>
              <a:ea typeface="Nunito"/>
              <a:cs typeface="Nunito"/>
              <a:sym typeface="Nunito"/>
            </a:endParaRPr>
          </a:p>
          <a:p>
            <a:pPr indent="0" lvl="0" marL="0" rtl="0" algn="l">
              <a:spcBef>
                <a:spcPts val="1200"/>
              </a:spcBef>
              <a:spcAft>
                <a:spcPts val="1200"/>
              </a:spcAft>
              <a:buNone/>
            </a:pPr>
            <a:r>
              <a:t/>
            </a:r>
            <a:endParaRPr sz="2100">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Nunito"/>
                <a:ea typeface="Nunito"/>
                <a:cs typeface="Nunito"/>
                <a:sym typeface="Nunito"/>
              </a:rPr>
              <a:t>Testing &amp; Research</a:t>
            </a:r>
            <a:endParaRPr b="1">
              <a:latin typeface="Nunito"/>
              <a:ea typeface="Nunito"/>
              <a:cs typeface="Nunito"/>
              <a:sym typeface="Nunito"/>
            </a:endParaRPr>
          </a:p>
          <a:p>
            <a:pPr indent="0" lvl="0" marL="0" rtl="0" algn="l">
              <a:spcBef>
                <a:spcPts val="0"/>
              </a:spcBef>
              <a:spcAft>
                <a:spcPts val="0"/>
              </a:spcAft>
              <a:buNone/>
            </a:pPr>
            <a:r>
              <a:t/>
            </a:r>
            <a:endParaRPr/>
          </a:p>
        </p:txBody>
      </p:sp>
      <p:sp>
        <p:nvSpPr>
          <p:cNvPr id="99" name="Google Shape;99;p20"/>
          <p:cNvSpPr txBox="1"/>
          <p:nvPr>
            <p:ph idx="1" type="body"/>
          </p:nvPr>
        </p:nvSpPr>
        <p:spPr>
          <a:xfrm>
            <a:off x="440725" y="1152475"/>
            <a:ext cx="4650000" cy="3416400"/>
          </a:xfrm>
          <a:prstGeom prst="rect">
            <a:avLst/>
          </a:prstGeom>
        </p:spPr>
        <p:txBody>
          <a:bodyPr anchorCtr="0" anchor="ctr" bIns="91425" lIns="91425" spcFirstLastPara="1" rIns="91425" wrap="square" tIns="91425">
            <a:normAutofit/>
          </a:bodyPr>
          <a:lstStyle/>
          <a:p>
            <a:pPr indent="-361950" lvl="0" marL="457200" rtl="0" algn="l">
              <a:spcBef>
                <a:spcPts val="0"/>
              </a:spcBef>
              <a:spcAft>
                <a:spcPts val="0"/>
              </a:spcAft>
              <a:buSzPts val="2100"/>
              <a:buFont typeface="Nunito"/>
              <a:buChar char="●"/>
            </a:pPr>
            <a:r>
              <a:rPr lang="en" sz="2100">
                <a:latin typeface="Nunito"/>
                <a:ea typeface="Nunito"/>
                <a:cs typeface="Nunito"/>
                <a:sym typeface="Nunito"/>
              </a:rPr>
              <a:t>Method</a:t>
            </a:r>
            <a:endParaRPr sz="2100">
              <a:latin typeface="Nunito"/>
              <a:ea typeface="Nunito"/>
              <a:cs typeface="Nunito"/>
              <a:sym typeface="Nunito"/>
            </a:endParaRPr>
          </a:p>
          <a:p>
            <a:pPr indent="-336550" lvl="1" marL="914400" rtl="0" algn="l">
              <a:spcBef>
                <a:spcPts val="0"/>
              </a:spcBef>
              <a:spcAft>
                <a:spcPts val="0"/>
              </a:spcAft>
              <a:buSzPts val="1700"/>
              <a:buFont typeface="Nunito"/>
              <a:buChar char="○"/>
            </a:pPr>
            <a:r>
              <a:rPr lang="en" sz="1700">
                <a:latin typeface="Nunito"/>
                <a:ea typeface="Nunito"/>
                <a:cs typeface="Nunito"/>
                <a:sym typeface="Nunito"/>
              </a:rPr>
              <a:t>Disassemble</a:t>
            </a:r>
            <a:endParaRPr sz="1700">
              <a:latin typeface="Nunito"/>
              <a:ea typeface="Nunito"/>
              <a:cs typeface="Nunito"/>
              <a:sym typeface="Nunito"/>
            </a:endParaRPr>
          </a:p>
          <a:p>
            <a:pPr indent="-336550" lvl="1" marL="914400" rtl="0" algn="l">
              <a:spcBef>
                <a:spcPts val="0"/>
              </a:spcBef>
              <a:spcAft>
                <a:spcPts val="0"/>
              </a:spcAft>
              <a:buSzPts val="1700"/>
              <a:buFont typeface="Nunito"/>
              <a:buChar char="○"/>
            </a:pPr>
            <a:r>
              <a:rPr lang="en" sz="1700">
                <a:latin typeface="Nunito"/>
                <a:ea typeface="Nunito"/>
                <a:cs typeface="Nunito"/>
                <a:sym typeface="Nunito"/>
              </a:rPr>
              <a:t>Trace UART communication using the Debug port (USB to Serial).</a:t>
            </a:r>
            <a:endParaRPr sz="1700">
              <a:latin typeface="Nunito"/>
              <a:ea typeface="Nunito"/>
              <a:cs typeface="Nunito"/>
              <a:sym typeface="Nunito"/>
            </a:endParaRPr>
          </a:p>
          <a:p>
            <a:pPr indent="-336550" lvl="1" marL="914400" rtl="0" algn="l">
              <a:spcBef>
                <a:spcPts val="0"/>
              </a:spcBef>
              <a:spcAft>
                <a:spcPts val="0"/>
              </a:spcAft>
              <a:buSzPts val="1700"/>
              <a:buFont typeface="Nunito"/>
              <a:buChar char="○"/>
            </a:pPr>
            <a:r>
              <a:rPr lang="en" sz="1700">
                <a:latin typeface="Nunito"/>
                <a:ea typeface="Nunito"/>
                <a:cs typeface="Nunito"/>
                <a:sym typeface="Nunito"/>
              </a:rPr>
              <a:t>Trace data packets over Wi-Fi using Wireshark.</a:t>
            </a:r>
            <a:endParaRPr sz="1700">
              <a:latin typeface="Nunito"/>
              <a:ea typeface="Nunito"/>
              <a:cs typeface="Nunito"/>
              <a:sym typeface="Nunito"/>
            </a:endParaRPr>
          </a:p>
          <a:p>
            <a:pPr indent="0" lvl="0" marL="0" rtl="0" algn="l">
              <a:spcBef>
                <a:spcPts val="1200"/>
              </a:spcBef>
              <a:spcAft>
                <a:spcPts val="1200"/>
              </a:spcAft>
              <a:buNone/>
            </a:pPr>
            <a:r>
              <a:t/>
            </a:r>
            <a:endParaRPr sz="2100">
              <a:latin typeface="Nunito"/>
              <a:ea typeface="Nunito"/>
              <a:cs typeface="Nunito"/>
              <a:sym typeface="Nunito"/>
            </a:endParaRPr>
          </a:p>
        </p:txBody>
      </p:sp>
      <p:pic>
        <p:nvPicPr>
          <p:cNvPr id="100" name="Google Shape;100;p20"/>
          <p:cNvPicPr preferRelativeResize="0"/>
          <p:nvPr/>
        </p:nvPicPr>
        <p:blipFill rotWithShape="1">
          <a:blip r:embed="rId3">
            <a:alphaModFix/>
          </a:blip>
          <a:srcRect b="0" l="8297" r="23016" t="5526"/>
          <a:stretch/>
        </p:blipFill>
        <p:spPr>
          <a:xfrm>
            <a:off x="5776900" y="1179225"/>
            <a:ext cx="2574674" cy="26560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nvSpPr>
        <p:spPr>
          <a:xfrm>
            <a:off x="6561979" y="3638500"/>
            <a:ext cx="7767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600">
                <a:solidFill>
                  <a:schemeClr val="lt2"/>
                </a:solidFill>
                <a:latin typeface="Nunito"/>
                <a:ea typeface="Nunito"/>
                <a:cs typeface="Nunito"/>
                <a:sym typeface="Nunito"/>
              </a:rPr>
              <a:t>Source:</a:t>
            </a:r>
            <a:r>
              <a:rPr lang="en" sz="600"/>
              <a:t> </a:t>
            </a:r>
            <a:r>
              <a:rPr lang="en" sz="600" u="sng">
                <a:solidFill>
                  <a:schemeClr val="hlink"/>
                </a:solidFill>
                <a:latin typeface="Nunito"/>
                <a:ea typeface="Nunito"/>
                <a:cs typeface="Nunito"/>
                <a:sym typeface="Nunito"/>
                <a:hlinkClick r:id="rId3"/>
              </a:rPr>
              <a:t>Link</a:t>
            </a:r>
            <a:endParaRPr sz="600">
              <a:latin typeface="Nunito"/>
              <a:ea typeface="Nunito"/>
              <a:cs typeface="Nunito"/>
              <a:sym typeface="Nunito"/>
            </a:endParaRPr>
          </a:p>
        </p:txBody>
      </p:sp>
      <p:pic>
        <p:nvPicPr>
          <p:cNvPr id="106" name="Google Shape;106;p21"/>
          <p:cNvPicPr preferRelativeResize="0"/>
          <p:nvPr/>
        </p:nvPicPr>
        <p:blipFill rotWithShape="1">
          <a:blip r:embed="rId4">
            <a:alphaModFix/>
          </a:blip>
          <a:srcRect b="28202" l="23193" r="19594" t="11224"/>
          <a:stretch/>
        </p:blipFill>
        <p:spPr>
          <a:xfrm>
            <a:off x="580575" y="1089550"/>
            <a:ext cx="3836349" cy="3046495"/>
          </a:xfrm>
          <a:prstGeom prst="rect">
            <a:avLst/>
          </a:prstGeom>
          <a:noFill/>
          <a:ln>
            <a:noFill/>
          </a:ln>
        </p:spPr>
      </p:pic>
      <p:sp>
        <p:nvSpPr>
          <p:cNvPr id="107" name="Google Shape;107;p21"/>
          <p:cNvSpPr/>
          <p:nvPr/>
        </p:nvSpPr>
        <p:spPr>
          <a:xfrm>
            <a:off x="2303125" y="2166050"/>
            <a:ext cx="411300" cy="5622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1"/>
          <p:cNvSpPr/>
          <p:nvPr/>
        </p:nvSpPr>
        <p:spPr>
          <a:xfrm>
            <a:off x="1228550" y="2448675"/>
            <a:ext cx="663300" cy="684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1"/>
          <p:cNvSpPr/>
          <p:nvPr/>
        </p:nvSpPr>
        <p:spPr>
          <a:xfrm>
            <a:off x="1566025" y="3382475"/>
            <a:ext cx="1073100" cy="684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1"/>
          <p:cNvSpPr/>
          <p:nvPr/>
        </p:nvSpPr>
        <p:spPr>
          <a:xfrm>
            <a:off x="818750" y="3452050"/>
            <a:ext cx="545400" cy="3111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1"/>
          <p:cNvSpPr/>
          <p:nvPr/>
        </p:nvSpPr>
        <p:spPr>
          <a:xfrm>
            <a:off x="2899500" y="2166050"/>
            <a:ext cx="305700" cy="1179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1"/>
          <p:cNvSpPr/>
          <p:nvPr/>
        </p:nvSpPr>
        <p:spPr>
          <a:xfrm>
            <a:off x="3696225" y="1907175"/>
            <a:ext cx="450900" cy="505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3" name="Google Shape;113;p21"/>
          <p:cNvCxnSpPr>
            <a:stCxn id="107" idx="0"/>
          </p:cNvCxnSpPr>
          <p:nvPr/>
        </p:nvCxnSpPr>
        <p:spPr>
          <a:xfrm flipH="1" rot="10800000">
            <a:off x="2508775" y="815750"/>
            <a:ext cx="281100" cy="1350300"/>
          </a:xfrm>
          <a:prstGeom prst="straightConnector1">
            <a:avLst/>
          </a:prstGeom>
          <a:noFill/>
          <a:ln cap="flat" cmpd="sng" w="19050">
            <a:solidFill>
              <a:srgbClr val="FF0000"/>
            </a:solidFill>
            <a:prstDash val="solid"/>
            <a:round/>
            <a:headEnd len="med" w="med" type="none"/>
            <a:tailEnd len="med" w="med" type="triangle"/>
          </a:ln>
        </p:spPr>
      </p:cxnSp>
      <p:sp>
        <p:nvSpPr>
          <p:cNvPr id="114" name="Google Shape;114;p21"/>
          <p:cNvSpPr txBox="1"/>
          <p:nvPr/>
        </p:nvSpPr>
        <p:spPr>
          <a:xfrm>
            <a:off x="2042650" y="477050"/>
            <a:ext cx="1576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2"/>
                </a:solidFill>
                <a:latin typeface="Nunito"/>
                <a:ea typeface="Nunito"/>
                <a:cs typeface="Nunito"/>
                <a:sym typeface="Nunito"/>
              </a:rPr>
              <a:t>User input Push Button</a:t>
            </a:r>
            <a:endParaRPr sz="1000">
              <a:solidFill>
                <a:schemeClr val="lt2"/>
              </a:solidFill>
              <a:latin typeface="Nunito"/>
              <a:ea typeface="Nunito"/>
              <a:cs typeface="Nunito"/>
              <a:sym typeface="Nunito"/>
            </a:endParaRPr>
          </a:p>
        </p:txBody>
      </p:sp>
      <p:sp>
        <p:nvSpPr>
          <p:cNvPr id="115" name="Google Shape;115;p21"/>
          <p:cNvSpPr txBox="1"/>
          <p:nvPr/>
        </p:nvSpPr>
        <p:spPr>
          <a:xfrm>
            <a:off x="4189750" y="750850"/>
            <a:ext cx="1073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2"/>
                </a:solidFill>
                <a:latin typeface="Nunito"/>
                <a:ea typeface="Nunito"/>
                <a:cs typeface="Nunito"/>
                <a:sym typeface="Nunito"/>
              </a:rPr>
              <a:t>RF </a:t>
            </a:r>
            <a:r>
              <a:rPr lang="en" sz="1000">
                <a:solidFill>
                  <a:schemeClr val="lt2"/>
                </a:solidFill>
                <a:latin typeface="Nunito"/>
                <a:ea typeface="Nunito"/>
                <a:cs typeface="Nunito"/>
                <a:sym typeface="Nunito"/>
              </a:rPr>
              <a:t>Transceiver</a:t>
            </a:r>
            <a:endParaRPr sz="1000">
              <a:solidFill>
                <a:schemeClr val="lt2"/>
              </a:solidFill>
              <a:latin typeface="Nunito"/>
              <a:ea typeface="Nunito"/>
              <a:cs typeface="Nunito"/>
              <a:sym typeface="Nunito"/>
            </a:endParaRPr>
          </a:p>
        </p:txBody>
      </p:sp>
      <p:cxnSp>
        <p:nvCxnSpPr>
          <p:cNvPr id="116" name="Google Shape;116;p21"/>
          <p:cNvCxnSpPr/>
          <p:nvPr/>
        </p:nvCxnSpPr>
        <p:spPr>
          <a:xfrm flipH="1" rot="10800000">
            <a:off x="4140150" y="1062325"/>
            <a:ext cx="425100" cy="836400"/>
          </a:xfrm>
          <a:prstGeom prst="straightConnector1">
            <a:avLst/>
          </a:prstGeom>
          <a:noFill/>
          <a:ln cap="flat" cmpd="sng" w="19050">
            <a:solidFill>
              <a:srgbClr val="FF0000"/>
            </a:solidFill>
            <a:prstDash val="solid"/>
            <a:round/>
            <a:headEnd len="med" w="med" type="none"/>
            <a:tailEnd len="med" w="med" type="triangle"/>
          </a:ln>
        </p:spPr>
      </p:cxnSp>
      <p:cxnSp>
        <p:nvCxnSpPr>
          <p:cNvPr id="117" name="Google Shape;117;p21"/>
          <p:cNvCxnSpPr>
            <a:stCxn id="108" idx="0"/>
          </p:cNvCxnSpPr>
          <p:nvPr/>
        </p:nvCxnSpPr>
        <p:spPr>
          <a:xfrm rot="10800000">
            <a:off x="1130900" y="801975"/>
            <a:ext cx="429300" cy="1646700"/>
          </a:xfrm>
          <a:prstGeom prst="straightConnector1">
            <a:avLst/>
          </a:prstGeom>
          <a:noFill/>
          <a:ln cap="flat" cmpd="sng" w="19050">
            <a:solidFill>
              <a:srgbClr val="FF0000"/>
            </a:solidFill>
            <a:prstDash val="solid"/>
            <a:round/>
            <a:headEnd len="med" w="med" type="none"/>
            <a:tailEnd len="med" w="med" type="triangle"/>
          </a:ln>
        </p:spPr>
      </p:cxnSp>
      <p:sp>
        <p:nvSpPr>
          <p:cNvPr id="118" name="Google Shape;118;p21"/>
          <p:cNvSpPr txBox="1"/>
          <p:nvPr/>
        </p:nvSpPr>
        <p:spPr>
          <a:xfrm>
            <a:off x="466150" y="477050"/>
            <a:ext cx="1576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2"/>
                </a:solidFill>
                <a:latin typeface="Nunito"/>
                <a:ea typeface="Nunito"/>
                <a:cs typeface="Nunito"/>
                <a:sym typeface="Nunito"/>
              </a:rPr>
              <a:t>MCU with Wi-Fi</a:t>
            </a:r>
            <a:endParaRPr sz="1000">
              <a:solidFill>
                <a:schemeClr val="lt2"/>
              </a:solidFill>
              <a:latin typeface="Nunito"/>
              <a:ea typeface="Nunito"/>
              <a:cs typeface="Nunito"/>
              <a:sym typeface="Nunito"/>
            </a:endParaRPr>
          </a:p>
        </p:txBody>
      </p:sp>
      <p:cxnSp>
        <p:nvCxnSpPr>
          <p:cNvPr id="119" name="Google Shape;119;p21"/>
          <p:cNvCxnSpPr>
            <a:stCxn id="109" idx="2"/>
          </p:cNvCxnSpPr>
          <p:nvPr/>
        </p:nvCxnSpPr>
        <p:spPr>
          <a:xfrm>
            <a:off x="2102575" y="4066475"/>
            <a:ext cx="454200" cy="409500"/>
          </a:xfrm>
          <a:prstGeom prst="straightConnector1">
            <a:avLst/>
          </a:prstGeom>
          <a:noFill/>
          <a:ln cap="flat" cmpd="sng" w="19050">
            <a:solidFill>
              <a:srgbClr val="FF0000"/>
            </a:solidFill>
            <a:prstDash val="solid"/>
            <a:round/>
            <a:headEnd len="med" w="med" type="none"/>
            <a:tailEnd len="med" w="med" type="triangle"/>
          </a:ln>
        </p:spPr>
      </p:cxnSp>
      <p:sp>
        <p:nvSpPr>
          <p:cNvPr id="120" name="Google Shape;120;p21"/>
          <p:cNvSpPr txBox="1"/>
          <p:nvPr/>
        </p:nvSpPr>
        <p:spPr>
          <a:xfrm>
            <a:off x="2264100" y="4409850"/>
            <a:ext cx="1122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2"/>
                </a:solidFill>
                <a:latin typeface="Nunito"/>
                <a:ea typeface="Nunito"/>
                <a:cs typeface="Nunito"/>
                <a:sym typeface="Nunito"/>
              </a:rPr>
              <a:t>FLASH Memory</a:t>
            </a:r>
            <a:endParaRPr sz="1000">
              <a:solidFill>
                <a:schemeClr val="lt2"/>
              </a:solidFill>
              <a:latin typeface="Nunito"/>
              <a:ea typeface="Nunito"/>
              <a:cs typeface="Nunito"/>
              <a:sym typeface="Nunito"/>
            </a:endParaRPr>
          </a:p>
        </p:txBody>
      </p:sp>
      <p:cxnSp>
        <p:nvCxnSpPr>
          <p:cNvPr id="121" name="Google Shape;121;p21"/>
          <p:cNvCxnSpPr>
            <a:stCxn id="111" idx="3"/>
          </p:cNvCxnSpPr>
          <p:nvPr/>
        </p:nvCxnSpPr>
        <p:spPr>
          <a:xfrm>
            <a:off x="3205200" y="2755550"/>
            <a:ext cx="626400" cy="1590300"/>
          </a:xfrm>
          <a:prstGeom prst="straightConnector1">
            <a:avLst/>
          </a:prstGeom>
          <a:noFill/>
          <a:ln cap="flat" cmpd="sng" w="19050">
            <a:solidFill>
              <a:srgbClr val="FF0000"/>
            </a:solidFill>
            <a:prstDash val="solid"/>
            <a:round/>
            <a:headEnd len="med" w="med" type="none"/>
            <a:tailEnd len="med" w="med" type="triangle"/>
          </a:ln>
        </p:spPr>
      </p:cxnSp>
      <p:sp>
        <p:nvSpPr>
          <p:cNvPr id="122" name="Google Shape;122;p21"/>
          <p:cNvSpPr txBox="1"/>
          <p:nvPr/>
        </p:nvSpPr>
        <p:spPr>
          <a:xfrm>
            <a:off x="3564450" y="4345850"/>
            <a:ext cx="1000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2"/>
                </a:solidFill>
                <a:latin typeface="Nunito"/>
                <a:ea typeface="Nunito"/>
                <a:cs typeface="Nunito"/>
                <a:sym typeface="Nunito"/>
              </a:rPr>
              <a:t>UART Debug</a:t>
            </a:r>
            <a:endParaRPr sz="1000">
              <a:solidFill>
                <a:schemeClr val="lt2"/>
              </a:solidFill>
              <a:latin typeface="Nunito"/>
              <a:ea typeface="Nunito"/>
              <a:cs typeface="Nunito"/>
              <a:sym typeface="Nunito"/>
            </a:endParaRPr>
          </a:p>
        </p:txBody>
      </p:sp>
      <p:cxnSp>
        <p:nvCxnSpPr>
          <p:cNvPr id="123" name="Google Shape;123;p21"/>
          <p:cNvCxnSpPr>
            <a:stCxn id="110" idx="2"/>
            <a:endCxn id="124" idx="0"/>
          </p:cNvCxnSpPr>
          <p:nvPr/>
        </p:nvCxnSpPr>
        <p:spPr>
          <a:xfrm flipH="1">
            <a:off x="1009250" y="3763150"/>
            <a:ext cx="82200" cy="762600"/>
          </a:xfrm>
          <a:prstGeom prst="straightConnector1">
            <a:avLst/>
          </a:prstGeom>
          <a:noFill/>
          <a:ln cap="flat" cmpd="sng" w="19050">
            <a:solidFill>
              <a:srgbClr val="FF0000"/>
            </a:solidFill>
            <a:prstDash val="solid"/>
            <a:round/>
            <a:headEnd len="med" w="med" type="none"/>
            <a:tailEnd len="med" w="med" type="triangle"/>
          </a:ln>
        </p:spPr>
      </p:cxnSp>
      <p:sp>
        <p:nvSpPr>
          <p:cNvPr id="124" name="Google Shape;124;p21"/>
          <p:cNvSpPr txBox="1"/>
          <p:nvPr/>
        </p:nvSpPr>
        <p:spPr>
          <a:xfrm>
            <a:off x="508900" y="4525675"/>
            <a:ext cx="1000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2"/>
                </a:solidFill>
                <a:latin typeface="Nunito"/>
                <a:ea typeface="Nunito"/>
                <a:cs typeface="Nunito"/>
                <a:sym typeface="Nunito"/>
              </a:rPr>
              <a:t>I2C </a:t>
            </a:r>
            <a:r>
              <a:rPr lang="en" sz="1000">
                <a:solidFill>
                  <a:schemeClr val="lt2"/>
                </a:solidFill>
                <a:latin typeface="Nunito"/>
                <a:ea typeface="Nunito"/>
                <a:cs typeface="Nunito"/>
                <a:sym typeface="Nunito"/>
              </a:rPr>
              <a:t>Debug</a:t>
            </a:r>
            <a:endParaRPr sz="1000">
              <a:solidFill>
                <a:schemeClr val="lt2"/>
              </a:solidFill>
              <a:latin typeface="Nunito"/>
              <a:ea typeface="Nunito"/>
              <a:cs typeface="Nunito"/>
              <a:sym typeface="Nunito"/>
            </a:endParaRPr>
          </a:p>
        </p:txBody>
      </p:sp>
      <p:pic>
        <p:nvPicPr>
          <p:cNvPr id="125" name="Google Shape;125;p21"/>
          <p:cNvPicPr preferRelativeResize="0"/>
          <p:nvPr/>
        </p:nvPicPr>
        <p:blipFill>
          <a:blip r:embed="rId5">
            <a:alphaModFix/>
          </a:blip>
          <a:stretch>
            <a:fillRect/>
          </a:stretch>
        </p:blipFill>
        <p:spPr>
          <a:xfrm>
            <a:off x="4972059" y="2028763"/>
            <a:ext cx="3956526" cy="16097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Nunito"/>
                <a:ea typeface="Nunito"/>
                <a:cs typeface="Nunito"/>
                <a:sym typeface="Nunito"/>
              </a:rPr>
              <a:t>Testing &amp; Research</a:t>
            </a:r>
            <a:endParaRPr b="1">
              <a:latin typeface="Nunito"/>
              <a:ea typeface="Nunito"/>
              <a:cs typeface="Nunito"/>
              <a:sym typeface="Nuni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1" name="Google Shape;131;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Nunito"/>
              <a:buChar char="●"/>
            </a:pPr>
            <a:r>
              <a:rPr lang="en">
                <a:latin typeface="Nunito"/>
                <a:ea typeface="Nunito"/>
                <a:cs typeface="Nunito"/>
                <a:sym typeface="Nunito"/>
              </a:rPr>
              <a:t>Other possible testing methodologies</a:t>
            </a:r>
            <a:endParaRPr>
              <a:latin typeface="Nunito"/>
              <a:ea typeface="Nunito"/>
              <a:cs typeface="Nunito"/>
              <a:sym typeface="Nunito"/>
            </a:endParaRPr>
          </a:p>
          <a:p>
            <a:pPr indent="-317500" lvl="1" marL="914400" rtl="0" algn="l">
              <a:spcBef>
                <a:spcPts val="0"/>
              </a:spcBef>
              <a:spcAft>
                <a:spcPts val="0"/>
              </a:spcAft>
              <a:buSzPts val="1400"/>
              <a:buFont typeface="Nunito"/>
              <a:buChar char="○"/>
            </a:pPr>
            <a:r>
              <a:rPr lang="en">
                <a:latin typeface="Nunito"/>
                <a:ea typeface="Nunito"/>
                <a:cs typeface="Nunito"/>
                <a:sym typeface="Nunito"/>
              </a:rPr>
              <a:t>Fuzz Testing: Sending malformed packets to the device to test response</a:t>
            </a:r>
            <a:endParaRPr>
              <a:latin typeface="Nunito"/>
              <a:ea typeface="Nunito"/>
              <a:cs typeface="Nunito"/>
              <a:sym typeface="Nunito"/>
            </a:endParaRPr>
          </a:p>
          <a:p>
            <a:pPr indent="-317500" lvl="1" marL="914400" rtl="0" algn="l">
              <a:spcBef>
                <a:spcPts val="0"/>
              </a:spcBef>
              <a:spcAft>
                <a:spcPts val="0"/>
              </a:spcAft>
              <a:buSzPts val="1400"/>
              <a:buFont typeface="Nunito"/>
              <a:buChar char="○"/>
            </a:pPr>
            <a:r>
              <a:rPr lang="en">
                <a:latin typeface="Nunito"/>
                <a:ea typeface="Nunito"/>
                <a:cs typeface="Nunito"/>
                <a:sym typeface="Nunito"/>
              </a:rPr>
              <a:t>Penetration Testing: Simulate a cyber attack on the device to identify vulnerabilities</a:t>
            </a:r>
            <a:endParaRPr>
              <a:latin typeface="Nunito"/>
              <a:ea typeface="Nunito"/>
              <a:cs typeface="Nunito"/>
              <a:sym typeface="Nunito"/>
            </a:endParaRPr>
          </a:p>
          <a:p>
            <a:pPr indent="-317500" lvl="1" marL="914400" rtl="0" algn="l">
              <a:spcBef>
                <a:spcPts val="0"/>
              </a:spcBef>
              <a:spcAft>
                <a:spcPts val="0"/>
              </a:spcAft>
              <a:buSzPts val="1400"/>
              <a:buFont typeface="Nunito"/>
              <a:buChar char="○"/>
            </a:pPr>
            <a:r>
              <a:rPr lang="en">
                <a:latin typeface="Nunito"/>
                <a:ea typeface="Nunito"/>
                <a:cs typeface="Nunito"/>
                <a:sym typeface="Nunito"/>
              </a:rPr>
              <a:t>Code Review: Review the source code to check for bugs or vulnerabilities. </a:t>
            </a:r>
            <a:endParaRPr>
              <a:latin typeface="Nunito"/>
              <a:ea typeface="Nunito"/>
              <a:cs typeface="Nunito"/>
              <a:sym typeface="Nuni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Nunito"/>
                <a:ea typeface="Nunito"/>
                <a:cs typeface="Nunito"/>
                <a:sym typeface="Nunito"/>
              </a:rPr>
              <a:t>Testing &amp; Research</a:t>
            </a:r>
            <a:endParaRPr b="1">
              <a:latin typeface="Nunito"/>
              <a:ea typeface="Nunito"/>
              <a:cs typeface="Nunito"/>
              <a:sym typeface="Nunito"/>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7" name="Google Shape;137;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SzPts val="2100"/>
              <a:buFont typeface="Nunito"/>
              <a:buChar char="●"/>
            </a:pPr>
            <a:r>
              <a:rPr lang="en" sz="2100">
                <a:latin typeface="Nunito"/>
                <a:ea typeface="Nunito"/>
                <a:cs typeface="Nunito"/>
                <a:sym typeface="Nunito"/>
              </a:rPr>
              <a:t>Findings</a:t>
            </a:r>
            <a:endParaRPr sz="2100">
              <a:latin typeface="Nunito"/>
              <a:ea typeface="Nunito"/>
              <a:cs typeface="Nunito"/>
              <a:sym typeface="Nunito"/>
            </a:endParaRPr>
          </a:p>
          <a:p>
            <a:pPr indent="-336550" lvl="1" marL="914400" rtl="0" algn="l">
              <a:spcBef>
                <a:spcPts val="0"/>
              </a:spcBef>
              <a:spcAft>
                <a:spcPts val="0"/>
              </a:spcAft>
              <a:buSzPts val="1700"/>
              <a:buFont typeface="Nunito"/>
              <a:buChar char="○"/>
            </a:pPr>
            <a:r>
              <a:rPr lang="en" sz="1700">
                <a:latin typeface="Nunito"/>
                <a:ea typeface="Nunito"/>
                <a:cs typeface="Nunito"/>
                <a:sym typeface="Nunito"/>
              </a:rPr>
              <a:t>SOAP over HTTP for communication</a:t>
            </a:r>
            <a:endParaRPr sz="1700">
              <a:latin typeface="Nunito"/>
              <a:ea typeface="Nunito"/>
              <a:cs typeface="Nunito"/>
              <a:sym typeface="Nunito"/>
            </a:endParaRPr>
          </a:p>
          <a:p>
            <a:pPr indent="-336550" lvl="1" marL="914400" rtl="0" algn="l">
              <a:spcBef>
                <a:spcPts val="0"/>
              </a:spcBef>
              <a:spcAft>
                <a:spcPts val="0"/>
              </a:spcAft>
              <a:buSzPts val="1700"/>
              <a:buFont typeface="Nunito"/>
              <a:buChar char="○"/>
            </a:pPr>
            <a:r>
              <a:rPr lang="en" sz="1700">
                <a:latin typeface="Nunito"/>
                <a:ea typeface="Nunito"/>
                <a:cs typeface="Nunito"/>
                <a:sym typeface="Nunito"/>
              </a:rPr>
              <a:t>Unencrypted Firmware</a:t>
            </a:r>
            <a:endParaRPr sz="1700">
              <a:latin typeface="Nunito"/>
              <a:ea typeface="Nunito"/>
              <a:cs typeface="Nunito"/>
              <a:sym typeface="Nunito"/>
            </a:endParaRPr>
          </a:p>
          <a:p>
            <a:pPr indent="-336550" lvl="1" marL="914400" rtl="0" algn="l">
              <a:spcBef>
                <a:spcPts val="0"/>
              </a:spcBef>
              <a:spcAft>
                <a:spcPts val="0"/>
              </a:spcAft>
              <a:buSzPts val="1700"/>
              <a:buFont typeface="Nunito"/>
              <a:buChar char="○"/>
            </a:pPr>
            <a:r>
              <a:rPr lang="en" sz="1700">
                <a:latin typeface="Nunito"/>
                <a:ea typeface="Nunito"/>
                <a:cs typeface="Nunito"/>
                <a:sym typeface="Nunito"/>
              </a:rPr>
              <a:t>Authentication Bypass</a:t>
            </a:r>
            <a:endParaRPr sz="1700">
              <a:latin typeface="Nunito"/>
              <a:ea typeface="Nunito"/>
              <a:cs typeface="Nunito"/>
              <a:sym typeface="Nunito"/>
            </a:endParaRPr>
          </a:p>
          <a:p>
            <a:pPr indent="0" lvl="0" marL="0" rtl="0" algn="l">
              <a:spcBef>
                <a:spcPts val="1200"/>
              </a:spcBef>
              <a:spcAft>
                <a:spcPts val="0"/>
              </a:spcAft>
              <a:buNone/>
            </a:pPr>
            <a:r>
              <a:t/>
            </a:r>
            <a:endParaRPr sz="2100">
              <a:latin typeface="Nunito"/>
              <a:ea typeface="Nunito"/>
              <a:cs typeface="Nunito"/>
              <a:sym typeface="Nunito"/>
            </a:endParaRPr>
          </a:p>
          <a:p>
            <a:pPr indent="0" lvl="0" marL="0" rtl="0" algn="l">
              <a:spcBef>
                <a:spcPts val="1200"/>
              </a:spcBef>
              <a:spcAft>
                <a:spcPts val="1200"/>
              </a:spcAft>
              <a:buNone/>
            </a:pPr>
            <a:r>
              <a:rPr lang="en">
                <a:latin typeface="Nunito"/>
                <a:ea typeface="Nunito"/>
                <a:cs typeface="Nunito"/>
                <a:sym typeface="Nunito"/>
              </a:rPr>
              <a:t>Disassembling &amp; capturing data traffic exposes various vulnerabilities and provides a starting point for securing the device step by step.</a:t>
            </a:r>
            <a:endParaRPr>
              <a:latin typeface="Nunito"/>
              <a:ea typeface="Nunito"/>
              <a:cs typeface="Nunito"/>
              <a:sym typeface="Nuni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en" sz="2200">
                <a:latin typeface="Nunito"/>
                <a:ea typeface="Nunito"/>
                <a:cs typeface="Nunito"/>
                <a:sym typeface="Nunito"/>
              </a:rPr>
              <a:t>Software Bill of Materials (SBOM)</a:t>
            </a:r>
            <a:endParaRPr sz="2200">
              <a:latin typeface="Nunito"/>
              <a:ea typeface="Nunito"/>
              <a:cs typeface="Nunito"/>
              <a:sym typeface="Nunito"/>
            </a:endParaRPr>
          </a:p>
        </p:txBody>
      </p:sp>
      <p:sp>
        <p:nvSpPr>
          <p:cNvPr id="143" name="Google Shape;143;p24"/>
          <p:cNvSpPr txBox="1"/>
          <p:nvPr>
            <p:ph idx="1" type="body"/>
          </p:nvPr>
        </p:nvSpPr>
        <p:spPr>
          <a:xfrm>
            <a:off x="702450" y="1783450"/>
            <a:ext cx="7739100" cy="2539800"/>
          </a:xfrm>
          <a:prstGeom prst="rect">
            <a:avLst/>
          </a:prstGeom>
        </p:spPr>
        <p:txBody>
          <a:bodyPr anchorCtr="0" anchor="t" bIns="91425" lIns="91425" spcFirstLastPara="1" rIns="91425" wrap="square" tIns="91425">
            <a:normAutofit/>
          </a:bodyPr>
          <a:lstStyle/>
          <a:p>
            <a:pPr indent="-368300" lvl="0" marL="457200" rtl="0" algn="l">
              <a:lnSpc>
                <a:spcPct val="150000"/>
              </a:lnSpc>
              <a:spcBef>
                <a:spcPts val="0"/>
              </a:spcBef>
              <a:spcAft>
                <a:spcPts val="0"/>
              </a:spcAft>
              <a:buClr>
                <a:schemeClr val="dk1"/>
              </a:buClr>
              <a:buSzPts val="2200"/>
              <a:buFont typeface="Nunito"/>
              <a:buChar char="●"/>
            </a:pPr>
            <a:r>
              <a:rPr lang="en" sz="2200">
                <a:solidFill>
                  <a:schemeClr val="dk1"/>
                </a:solidFill>
                <a:latin typeface="Nunito"/>
                <a:ea typeface="Nunito"/>
                <a:cs typeface="Nunito"/>
                <a:sym typeface="Nunito"/>
              </a:rPr>
              <a:t>List of all the third-party software components </a:t>
            </a:r>
            <a:endParaRPr sz="2200">
              <a:solidFill>
                <a:schemeClr val="dk1"/>
              </a:solidFill>
              <a:latin typeface="Nunito"/>
              <a:ea typeface="Nunito"/>
              <a:cs typeface="Nunito"/>
              <a:sym typeface="Nunito"/>
            </a:endParaRPr>
          </a:p>
          <a:p>
            <a:pPr indent="-368300" lvl="0" marL="457200" rtl="0" algn="l">
              <a:lnSpc>
                <a:spcPct val="150000"/>
              </a:lnSpc>
              <a:spcBef>
                <a:spcPts val="0"/>
              </a:spcBef>
              <a:spcAft>
                <a:spcPts val="0"/>
              </a:spcAft>
              <a:buClr>
                <a:schemeClr val="dk1"/>
              </a:buClr>
              <a:buSzPts val="2200"/>
              <a:buFont typeface="Nunito"/>
              <a:buChar char="●"/>
            </a:pPr>
            <a:r>
              <a:rPr lang="en" sz="2200">
                <a:solidFill>
                  <a:schemeClr val="dk1"/>
                </a:solidFill>
                <a:latin typeface="Nunito"/>
                <a:ea typeface="Nunito"/>
                <a:cs typeface="Nunito"/>
                <a:sym typeface="Nunito"/>
              </a:rPr>
              <a:t>Used by manufacturers </a:t>
            </a:r>
            <a:endParaRPr sz="2200">
              <a:solidFill>
                <a:schemeClr val="dk1"/>
              </a:solidFill>
              <a:latin typeface="Nunito"/>
              <a:ea typeface="Nunito"/>
              <a:cs typeface="Nunito"/>
              <a:sym typeface="Nunito"/>
            </a:endParaRPr>
          </a:p>
          <a:p>
            <a:pPr indent="-368300" lvl="0" marL="457200" rtl="0" algn="l">
              <a:lnSpc>
                <a:spcPct val="150000"/>
              </a:lnSpc>
              <a:spcBef>
                <a:spcPts val="0"/>
              </a:spcBef>
              <a:spcAft>
                <a:spcPts val="0"/>
              </a:spcAft>
              <a:buClr>
                <a:schemeClr val="dk1"/>
              </a:buClr>
              <a:buSzPts val="2200"/>
              <a:buFont typeface="Nunito"/>
              <a:buChar char="●"/>
            </a:pPr>
            <a:r>
              <a:rPr lang="en" sz="2200">
                <a:solidFill>
                  <a:schemeClr val="dk1"/>
                </a:solidFill>
                <a:latin typeface="Nunito"/>
                <a:ea typeface="Nunito"/>
                <a:cs typeface="Nunito"/>
                <a:sym typeface="Nunito"/>
              </a:rPr>
              <a:t>Helpful for end-users and consumers of the product </a:t>
            </a:r>
            <a:endParaRPr sz="2200">
              <a:solidFill>
                <a:schemeClr val="dk1"/>
              </a:solidFill>
              <a:latin typeface="Nunito"/>
              <a:ea typeface="Nunito"/>
              <a:cs typeface="Nunito"/>
              <a:sym typeface="Nunito"/>
            </a:endParaRPr>
          </a:p>
          <a:p>
            <a:pPr indent="-368300" lvl="0" marL="457200" rtl="0" algn="l">
              <a:lnSpc>
                <a:spcPct val="150000"/>
              </a:lnSpc>
              <a:spcBef>
                <a:spcPts val="0"/>
              </a:spcBef>
              <a:spcAft>
                <a:spcPts val="0"/>
              </a:spcAft>
              <a:buClr>
                <a:schemeClr val="dk1"/>
              </a:buClr>
              <a:buSzPts val="2200"/>
              <a:buFont typeface="Nunito"/>
              <a:buChar char="●"/>
            </a:pPr>
            <a:r>
              <a:rPr lang="en" sz="2200">
                <a:solidFill>
                  <a:schemeClr val="dk1"/>
                </a:solidFill>
                <a:latin typeface="Nunito"/>
                <a:ea typeface="Nunito"/>
                <a:cs typeface="Nunito"/>
                <a:sym typeface="Nunito"/>
              </a:rPr>
              <a:t>Included in product documentation </a:t>
            </a:r>
            <a:endParaRPr sz="2200">
              <a:solidFill>
                <a:schemeClr val="dk1"/>
              </a:solidFill>
              <a:latin typeface="Nunito"/>
              <a:ea typeface="Nunito"/>
              <a:cs typeface="Nunito"/>
              <a:sym typeface="Nuni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5"/>
          <p:cNvSpPr txBox="1"/>
          <p:nvPr/>
        </p:nvSpPr>
        <p:spPr>
          <a:xfrm rot="-5400000">
            <a:off x="-2002200" y="2002200"/>
            <a:ext cx="5143500" cy="1139100"/>
          </a:xfrm>
          <a:prstGeom prst="rect">
            <a:avLst/>
          </a:prstGeom>
          <a:solidFill>
            <a:srgbClr val="3D85C6"/>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6200">
                <a:solidFill>
                  <a:schemeClr val="lt1"/>
                </a:solidFill>
                <a:latin typeface="Lexend"/>
                <a:ea typeface="Lexend"/>
                <a:cs typeface="Lexend"/>
                <a:sym typeface="Lexend"/>
              </a:rPr>
              <a:t>S   B   O   M</a:t>
            </a:r>
            <a:endParaRPr b="1" sz="6200">
              <a:solidFill>
                <a:schemeClr val="lt1"/>
              </a:solidFill>
              <a:latin typeface="Lexend"/>
              <a:ea typeface="Lexend"/>
              <a:cs typeface="Lexend"/>
              <a:sym typeface="Lexend"/>
            </a:endParaRPr>
          </a:p>
        </p:txBody>
      </p:sp>
      <p:pic>
        <p:nvPicPr>
          <p:cNvPr id="149" name="Google Shape;149;p25"/>
          <p:cNvPicPr preferRelativeResize="0"/>
          <p:nvPr/>
        </p:nvPicPr>
        <p:blipFill>
          <a:blip r:embed="rId3">
            <a:alphaModFix/>
          </a:blip>
          <a:stretch>
            <a:fillRect/>
          </a:stretch>
        </p:blipFill>
        <p:spPr>
          <a:xfrm>
            <a:off x="1139100" y="1200"/>
            <a:ext cx="8004900" cy="5141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26"/>
          <p:cNvPicPr preferRelativeResize="0"/>
          <p:nvPr/>
        </p:nvPicPr>
        <p:blipFill>
          <a:blip r:embed="rId3">
            <a:alphaModFix/>
          </a:blip>
          <a:stretch>
            <a:fillRect/>
          </a:stretch>
        </p:blipFill>
        <p:spPr>
          <a:xfrm>
            <a:off x="656125" y="723700"/>
            <a:ext cx="7880375" cy="4419800"/>
          </a:xfrm>
          <a:prstGeom prst="rect">
            <a:avLst/>
          </a:prstGeom>
          <a:noFill/>
          <a:ln>
            <a:noFill/>
          </a:ln>
        </p:spPr>
      </p:pic>
      <p:sp>
        <p:nvSpPr>
          <p:cNvPr id="155" name="Google Shape;155;p26"/>
          <p:cNvSpPr txBox="1"/>
          <p:nvPr/>
        </p:nvSpPr>
        <p:spPr>
          <a:xfrm>
            <a:off x="0" y="0"/>
            <a:ext cx="9192600" cy="538800"/>
          </a:xfrm>
          <a:prstGeom prst="rect">
            <a:avLst/>
          </a:prstGeom>
          <a:solidFill>
            <a:srgbClr val="351C75"/>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300">
                <a:solidFill>
                  <a:schemeClr val="dk1"/>
                </a:solidFill>
                <a:latin typeface="Nunito"/>
                <a:ea typeface="Nunito"/>
                <a:cs typeface="Nunito"/>
                <a:sym typeface="Nunito"/>
              </a:rPr>
              <a:t>Third-Party Threat and Vulnerability Impact Analysis</a:t>
            </a:r>
            <a:endParaRPr b="1" sz="2300">
              <a:solidFill>
                <a:schemeClr val="dk1"/>
              </a:solidFill>
              <a:latin typeface="Nunito"/>
              <a:ea typeface="Nunito"/>
              <a:cs typeface="Nunito"/>
              <a:sym typeface="Nuni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990"/>
              <a:buNone/>
            </a:pPr>
            <a:r>
              <a:rPr b="1" lang="en" sz="2630">
                <a:latin typeface="Nunito"/>
                <a:ea typeface="Nunito"/>
                <a:cs typeface="Nunito"/>
                <a:sym typeface="Nunito"/>
              </a:rPr>
              <a:t>Post-Market Surveillance - I</a:t>
            </a:r>
            <a:endParaRPr b="1" sz="3980">
              <a:latin typeface="Nunito"/>
              <a:ea typeface="Nunito"/>
              <a:cs typeface="Nunito"/>
              <a:sym typeface="Nunito"/>
            </a:endParaRPr>
          </a:p>
        </p:txBody>
      </p:sp>
      <p:sp>
        <p:nvSpPr>
          <p:cNvPr id="161" name="Google Shape;161;p27"/>
          <p:cNvSpPr txBox="1"/>
          <p:nvPr>
            <p:ph idx="1" type="body"/>
          </p:nvPr>
        </p:nvSpPr>
        <p:spPr>
          <a:xfrm>
            <a:off x="979650" y="1774900"/>
            <a:ext cx="7184700" cy="3416400"/>
          </a:xfrm>
          <a:prstGeom prst="rect">
            <a:avLst/>
          </a:prstGeom>
        </p:spPr>
        <p:txBody>
          <a:bodyPr anchorCtr="0" anchor="t" bIns="91425" lIns="91425" spcFirstLastPara="1" rIns="91425" wrap="square" tIns="91425">
            <a:normAutofit/>
          </a:bodyPr>
          <a:lstStyle/>
          <a:p>
            <a:pPr indent="-368300" lvl="0" marL="457200" rtl="0" algn="l">
              <a:lnSpc>
                <a:spcPct val="150000"/>
              </a:lnSpc>
              <a:spcBef>
                <a:spcPts val="0"/>
              </a:spcBef>
              <a:spcAft>
                <a:spcPts val="0"/>
              </a:spcAft>
              <a:buClr>
                <a:schemeClr val="dk1"/>
              </a:buClr>
              <a:buSzPts val="2200"/>
              <a:buFont typeface="Nunito"/>
              <a:buChar char="●"/>
            </a:pPr>
            <a:r>
              <a:rPr lang="en" sz="2200">
                <a:solidFill>
                  <a:schemeClr val="dk1"/>
                </a:solidFill>
                <a:latin typeface="Nunito"/>
                <a:ea typeface="Nunito"/>
                <a:cs typeface="Nunito"/>
                <a:sym typeface="Nunito"/>
              </a:rPr>
              <a:t>Establish a dedicated security team</a:t>
            </a:r>
            <a:endParaRPr sz="2200">
              <a:solidFill>
                <a:schemeClr val="dk1"/>
              </a:solidFill>
              <a:latin typeface="Nunito"/>
              <a:ea typeface="Nunito"/>
              <a:cs typeface="Nunito"/>
              <a:sym typeface="Nunito"/>
            </a:endParaRPr>
          </a:p>
          <a:p>
            <a:pPr indent="-368300" lvl="0" marL="457200" rtl="0" algn="l">
              <a:lnSpc>
                <a:spcPct val="150000"/>
              </a:lnSpc>
              <a:spcBef>
                <a:spcPts val="0"/>
              </a:spcBef>
              <a:spcAft>
                <a:spcPts val="0"/>
              </a:spcAft>
              <a:buClr>
                <a:schemeClr val="dk1"/>
              </a:buClr>
              <a:buSzPts val="2200"/>
              <a:buFont typeface="Nunito"/>
              <a:buChar char="●"/>
            </a:pPr>
            <a:r>
              <a:rPr lang="en" sz="2200">
                <a:solidFill>
                  <a:schemeClr val="dk1"/>
                </a:solidFill>
                <a:latin typeface="Nunito"/>
                <a:ea typeface="Nunito"/>
                <a:cs typeface="Nunito"/>
                <a:sym typeface="Nunito"/>
              </a:rPr>
              <a:t>Subscribe to security advisories</a:t>
            </a:r>
            <a:endParaRPr sz="2200">
              <a:solidFill>
                <a:schemeClr val="dk1"/>
              </a:solidFill>
              <a:latin typeface="Nunito"/>
              <a:ea typeface="Nunito"/>
              <a:cs typeface="Nunito"/>
              <a:sym typeface="Nunito"/>
            </a:endParaRPr>
          </a:p>
          <a:p>
            <a:pPr indent="-368300" lvl="0" marL="457200" rtl="0" algn="l">
              <a:lnSpc>
                <a:spcPct val="150000"/>
              </a:lnSpc>
              <a:spcBef>
                <a:spcPts val="0"/>
              </a:spcBef>
              <a:spcAft>
                <a:spcPts val="0"/>
              </a:spcAft>
              <a:buClr>
                <a:schemeClr val="dk1"/>
              </a:buClr>
              <a:buSzPts val="2200"/>
              <a:buFont typeface="Nunito"/>
              <a:buChar char="●"/>
            </a:pPr>
            <a:r>
              <a:rPr lang="en" sz="2200">
                <a:solidFill>
                  <a:schemeClr val="dk1"/>
                </a:solidFill>
                <a:latin typeface="Nunito"/>
                <a:ea typeface="Nunito"/>
                <a:cs typeface="Nunito"/>
                <a:sym typeface="Nunito"/>
              </a:rPr>
              <a:t>Regularly check vendor websites</a:t>
            </a:r>
            <a:endParaRPr sz="2200">
              <a:solidFill>
                <a:schemeClr val="dk1"/>
              </a:solidFill>
              <a:latin typeface="Nunito"/>
              <a:ea typeface="Nunito"/>
              <a:cs typeface="Nunito"/>
              <a:sym typeface="Nunito"/>
            </a:endParaRPr>
          </a:p>
          <a:p>
            <a:pPr indent="-368300" lvl="0" marL="457200" rtl="0" algn="l">
              <a:lnSpc>
                <a:spcPct val="150000"/>
              </a:lnSpc>
              <a:spcBef>
                <a:spcPts val="0"/>
              </a:spcBef>
              <a:spcAft>
                <a:spcPts val="0"/>
              </a:spcAft>
              <a:buClr>
                <a:schemeClr val="dk1"/>
              </a:buClr>
              <a:buSzPts val="2200"/>
              <a:buFont typeface="Nunito"/>
              <a:buChar char="●"/>
            </a:pPr>
            <a:r>
              <a:rPr lang="en" sz="2200">
                <a:solidFill>
                  <a:schemeClr val="dk1"/>
                </a:solidFill>
                <a:latin typeface="Nunito"/>
                <a:ea typeface="Nunito"/>
                <a:cs typeface="Nunito"/>
                <a:sym typeface="Nunito"/>
              </a:rPr>
              <a:t>Vulnerability databases</a:t>
            </a:r>
            <a:endParaRPr sz="2200">
              <a:solidFill>
                <a:schemeClr val="dk1"/>
              </a:solidFill>
              <a:latin typeface="Nunito"/>
              <a:ea typeface="Nunito"/>
              <a:cs typeface="Nunito"/>
              <a:sym typeface="Nunito"/>
            </a:endParaRPr>
          </a:p>
          <a:p>
            <a:pPr indent="-368300" lvl="0" marL="457200" rtl="0" algn="l">
              <a:lnSpc>
                <a:spcPct val="150000"/>
              </a:lnSpc>
              <a:spcBef>
                <a:spcPts val="0"/>
              </a:spcBef>
              <a:spcAft>
                <a:spcPts val="0"/>
              </a:spcAft>
              <a:buClr>
                <a:schemeClr val="dk1"/>
              </a:buClr>
              <a:buSzPts val="2200"/>
              <a:buFont typeface="Nunito"/>
              <a:buChar char="●"/>
            </a:pPr>
            <a:r>
              <a:rPr lang="en" sz="2200">
                <a:solidFill>
                  <a:schemeClr val="dk1"/>
                </a:solidFill>
                <a:latin typeface="Nunito"/>
                <a:ea typeface="Nunito"/>
                <a:cs typeface="Nunito"/>
                <a:sym typeface="Nunito"/>
              </a:rPr>
              <a:t>Automated vulnerability scanning</a:t>
            </a:r>
            <a:endParaRPr sz="2200">
              <a:solidFill>
                <a:schemeClr val="dk1"/>
              </a:solidFill>
              <a:latin typeface="Nunito"/>
              <a:ea typeface="Nunito"/>
              <a:cs typeface="Nunito"/>
              <a:sym typeface="Nuni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990"/>
              <a:buNone/>
            </a:pPr>
            <a:r>
              <a:rPr b="1" lang="en" sz="2630">
                <a:latin typeface="Nunito"/>
                <a:ea typeface="Nunito"/>
                <a:cs typeface="Nunito"/>
                <a:sym typeface="Nunito"/>
              </a:rPr>
              <a:t>Post-Market Surveillance - II</a:t>
            </a:r>
            <a:endParaRPr b="1" sz="3980">
              <a:latin typeface="Nunito"/>
              <a:ea typeface="Nunito"/>
              <a:cs typeface="Nunito"/>
              <a:sym typeface="Nunito"/>
            </a:endParaRPr>
          </a:p>
        </p:txBody>
      </p:sp>
      <p:sp>
        <p:nvSpPr>
          <p:cNvPr id="167" name="Google Shape;167;p28"/>
          <p:cNvSpPr txBox="1"/>
          <p:nvPr>
            <p:ph idx="1" type="body"/>
          </p:nvPr>
        </p:nvSpPr>
        <p:spPr>
          <a:xfrm>
            <a:off x="1089600" y="1649600"/>
            <a:ext cx="6964800" cy="3416400"/>
          </a:xfrm>
          <a:prstGeom prst="rect">
            <a:avLst/>
          </a:prstGeom>
        </p:spPr>
        <p:txBody>
          <a:bodyPr anchorCtr="0" anchor="t" bIns="91425" lIns="91425" spcFirstLastPara="1" rIns="91425" wrap="square" tIns="91425">
            <a:normAutofit/>
          </a:bodyPr>
          <a:lstStyle/>
          <a:p>
            <a:pPr indent="-368300" lvl="0" marL="457200" rtl="0" algn="l">
              <a:lnSpc>
                <a:spcPct val="150000"/>
              </a:lnSpc>
              <a:spcBef>
                <a:spcPts val="0"/>
              </a:spcBef>
              <a:spcAft>
                <a:spcPts val="0"/>
              </a:spcAft>
              <a:buClr>
                <a:schemeClr val="dk1"/>
              </a:buClr>
              <a:buSzPts val="2200"/>
              <a:buFont typeface="Nunito"/>
              <a:buChar char="●"/>
            </a:pPr>
            <a:r>
              <a:rPr lang="en" sz="2200">
                <a:solidFill>
                  <a:schemeClr val="dk1"/>
                </a:solidFill>
                <a:latin typeface="Nunito"/>
                <a:ea typeface="Nunito"/>
                <a:cs typeface="Nunito"/>
                <a:sym typeface="Nunito"/>
              </a:rPr>
              <a:t>Periodic risk assessments</a:t>
            </a:r>
            <a:endParaRPr sz="2200">
              <a:solidFill>
                <a:schemeClr val="dk1"/>
              </a:solidFill>
              <a:latin typeface="Nunito"/>
              <a:ea typeface="Nunito"/>
              <a:cs typeface="Nunito"/>
              <a:sym typeface="Nunito"/>
            </a:endParaRPr>
          </a:p>
          <a:p>
            <a:pPr indent="-368300" lvl="0" marL="457200" rtl="0" algn="l">
              <a:lnSpc>
                <a:spcPct val="150000"/>
              </a:lnSpc>
              <a:spcBef>
                <a:spcPts val="0"/>
              </a:spcBef>
              <a:spcAft>
                <a:spcPts val="0"/>
              </a:spcAft>
              <a:buClr>
                <a:schemeClr val="dk1"/>
              </a:buClr>
              <a:buSzPts val="2200"/>
              <a:buFont typeface="Nunito"/>
              <a:buChar char="●"/>
            </a:pPr>
            <a:r>
              <a:rPr lang="en" sz="2200">
                <a:solidFill>
                  <a:schemeClr val="dk1"/>
                </a:solidFill>
                <a:latin typeface="Nunito"/>
                <a:ea typeface="Nunito"/>
                <a:cs typeface="Nunito"/>
                <a:sym typeface="Nunito"/>
              </a:rPr>
              <a:t>Patch management</a:t>
            </a:r>
            <a:endParaRPr sz="2200">
              <a:solidFill>
                <a:schemeClr val="dk1"/>
              </a:solidFill>
              <a:latin typeface="Nunito"/>
              <a:ea typeface="Nunito"/>
              <a:cs typeface="Nunito"/>
              <a:sym typeface="Nunito"/>
            </a:endParaRPr>
          </a:p>
          <a:p>
            <a:pPr indent="-368300" lvl="0" marL="457200" rtl="0" algn="l">
              <a:lnSpc>
                <a:spcPct val="150000"/>
              </a:lnSpc>
              <a:spcBef>
                <a:spcPts val="0"/>
              </a:spcBef>
              <a:spcAft>
                <a:spcPts val="0"/>
              </a:spcAft>
              <a:buClr>
                <a:schemeClr val="dk1"/>
              </a:buClr>
              <a:buSzPts val="2200"/>
              <a:buFont typeface="Nunito"/>
              <a:buChar char="●"/>
            </a:pPr>
            <a:r>
              <a:rPr lang="en" sz="2200">
                <a:solidFill>
                  <a:schemeClr val="dk1"/>
                </a:solidFill>
                <a:latin typeface="Nunito"/>
                <a:ea typeface="Nunito"/>
                <a:cs typeface="Nunito"/>
                <a:sym typeface="Nunito"/>
              </a:rPr>
              <a:t>Engage with the user community</a:t>
            </a:r>
            <a:endParaRPr sz="2200">
              <a:solidFill>
                <a:schemeClr val="dk1"/>
              </a:solidFill>
              <a:latin typeface="Nunito"/>
              <a:ea typeface="Nunito"/>
              <a:cs typeface="Nunito"/>
              <a:sym typeface="Nunito"/>
            </a:endParaRPr>
          </a:p>
          <a:p>
            <a:pPr indent="-368300" lvl="0" marL="457200" rtl="0" algn="l">
              <a:lnSpc>
                <a:spcPct val="150000"/>
              </a:lnSpc>
              <a:spcBef>
                <a:spcPts val="0"/>
              </a:spcBef>
              <a:spcAft>
                <a:spcPts val="0"/>
              </a:spcAft>
              <a:buClr>
                <a:schemeClr val="dk1"/>
              </a:buClr>
              <a:buSzPts val="2200"/>
              <a:buFont typeface="Nunito"/>
              <a:buChar char="●"/>
            </a:pPr>
            <a:r>
              <a:rPr lang="en" sz="2200">
                <a:solidFill>
                  <a:schemeClr val="dk1"/>
                </a:solidFill>
                <a:latin typeface="Nunito"/>
                <a:ea typeface="Nunito"/>
                <a:cs typeface="Nunito"/>
                <a:sym typeface="Nunito"/>
              </a:rPr>
              <a:t>Internal testing</a:t>
            </a:r>
            <a:endParaRPr sz="2200">
              <a:solidFill>
                <a:schemeClr val="dk1"/>
              </a:solidFill>
              <a:latin typeface="Nunito"/>
              <a:ea typeface="Nunito"/>
              <a:cs typeface="Nunito"/>
              <a:sym typeface="Nunito"/>
            </a:endParaRPr>
          </a:p>
          <a:p>
            <a:pPr indent="-368300" lvl="0" marL="457200" rtl="0" algn="l">
              <a:lnSpc>
                <a:spcPct val="150000"/>
              </a:lnSpc>
              <a:spcBef>
                <a:spcPts val="0"/>
              </a:spcBef>
              <a:spcAft>
                <a:spcPts val="0"/>
              </a:spcAft>
              <a:buClr>
                <a:schemeClr val="dk1"/>
              </a:buClr>
              <a:buSzPts val="2200"/>
              <a:buFont typeface="Nunito"/>
              <a:buChar char="●"/>
            </a:pPr>
            <a:r>
              <a:rPr lang="en" sz="2200">
                <a:solidFill>
                  <a:schemeClr val="dk1"/>
                </a:solidFill>
                <a:latin typeface="Nunito"/>
                <a:ea typeface="Nunito"/>
                <a:cs typeface="Nunito"/>
                <a:sym typeface="Nunito"/>
              </a:rPr>
              <a:t>Continuous improvement</a:t>
            </a:r>
            <a:endParaRPr sz="2200">
              <a:solidFill>
                <a:schemeClr val="dk1"/>
              </a:solidFill>
              <a:latin typeface="Nunito"/>
              <a:ea typeface="Nunito"/>
              <a:cs typeface="Nunito"/>
              <a:sym typeface="Nuni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9"/>
          <p:cNvSpPr txBox="1"/>
          <p:nvPr>
            <p:ph idx="1" type="body"/>
          </p:nvPr>
        </p:nvSpPr>
        <p:spPr>
          <a:xfrm>
            <a:off x="988300" y="1990050"/>
            <a:ext cx="7497000" cy="3010200"/>
          </a:xfrm>
          <a:prstGeom prst="rect">
            <a:avLst/>
          </a:prstGeom>
        </p:spPr>
        <p:txBody>
          <a:bodyPr anchorCtr="0" anchor="t" bIns="91425" lIns="91425" spcFirstLastPara="1" rIns="91425" wrap="square" tIns="91425">
            <a:normAutofit fontScale="77500" lnSpcReduction="10000"/>
          </a:bodyPr>
          <a:lstStyle/>
          <a:p>
            <a:pPr indent="-366395" lvl="0" marL="457200" rtl="0" algn="l">
              <a:lnSpc>
                <a:spcPct val="150000"/>
              </a:lnSpc>
              <a:spcBef>
                <a:spcPts val="0"/>
              </a:spcBef>
              <a:spcAft>
                <a:spcPts val="0"/>
              </a:spcAft>
              <a:buClr>
                <a:schemeClr val="dk1"/>
              </a:buClr>
              <a:buSzPct val="100000"/>
              <a:buFont typeface="Nunito"/>
              <a:buChar char="●"/>
            </a:pPr>
            <a:r>
              <a:rPr lang="en" sz="2800">
                <a:solidFill>
                  <a:schemeClr val="dk1"/>
                </a:solidFill>
                <a:latin typeface="Nunito"/>
                <a:ea typeface="Nunito"/>
                <a:cs typeface="Nunito"/>
                <a:sym typeface="Nunito"/>
              </a:rPr>
              <a:t>Regular(Monitoring + Security Assessment + Patching)</a:t>
            </a:r>
            <a:endParaRPr sz="2800">
              <a:solidFill>
                <a:schemeClr val="dk1"/>
              </a:solidFill>
              <a:latin typeface="Nunito"/>
              <a:ea typeface="Nunito"/>
              <a:cs typeface="Nunito"/>
              <a:sym typeface="Nunito"/>
            </a:endParaRPr>
          </a:p>
          <a:p>
            <a:pPr indent="-366395" lvl="0" marL="457200" rtl="0" algn="l">
              <a:lnSpc>
                <a:spcPct val="150000"/>
              </a:lnSpc>
              <a:spcBef>
                <a:spcPts val="0"/>
              </a:spcBef>
              <a:spcAft>
                <a:spcPts val="0"/>
              </a:spcAft>
              <a:buClr>
                <a:schemeClr val="dk1"/>
              </a:buClr>
              <a:buSzPct val="100000"/>
              <a:buFont typeface="Nunito"/>
              <a:buChar char="●"/>
            </a:pPr>
            <a:r>
              <a:rPr lang="en" sz="2800">
                <a:solidFill>
                  <a:schemeClr val="dk1"/>
                </a:solidFill>
                <a:latin typeface="Nunito"/>
                <a:ea typeface="Nunito"/>
                <a:cs typeface="Nunito"/>
                <a:sym typeface="Nunito"/>
              </a:rPr>
              <a:t>Coordination</a:t>
            </a:r>
            <a:r>
              <a:rPr lang="en" sz="2800">
                <a:solidFill>
                  <a:schemeClr val="dk1"/>
                </a:solidFill>
                <a:latin typeface="Nunito"/>
                <a:ea typeface="Nunito"/>
                <a:cs typeface="Nunito"/>
                <a:sym typeface="Nunito"/>
              </a:rPr>
              <a:t> with 3rd party vendors for timely updates</a:t>
            </a:r>
            <a:endParaRPr sz="2800">
              <a:solidFill>
                <a:schemeClr val="dk1"/>
              </a:solidFill>
              <a:latin typeface="Nunito"/>
              <a:ea typeface="Nunito"/>
              <a:cs typeface="Nunito"/>
              <a:sym typeface="Nunito"/>
            </a:endParaRPr>
          </a:p>
          <a:p>
            <a:pPr indent="-366395" lvl="0" marL="457200" rtl="0" algn="l">
              <a:lnSpc>
                <a:spcPct val="150000"/>
              </a:lnSpc>
              <a:spcBef>
                <a:spcPts val="0"/>
              </a:spcBef>
              <a:spcAft>
                <a:spcPts val="0"/>
              </a:spcAft>
              <a:buClr>
                <a:schemeClr val="dk1"/>
              </a:buClr>
              <a:buSzPct val="100000"/>
              <a:buFont typeface="Nunito"/>
              <a:buChar char="●"/>
            </a:pPr>
            <a:r>
              <a:rPr lang="en" sz="2800">
                <a:solidFill>
                  <a:schemeClr val="dk1"/>
                </a:solidFill>
                <a:latin typeface="Nunito"/>
                <a:ea typeface="Nunito"/>
                <a:cs typeface="Nunito"/>
                <a:sym typeface="Nunito"/>
              </a:rPr>
              <a:t>S</a:t>
            </a:r>
            <a:r>
              <a:rPr lang="en" sz="2800">
                <a:solidFill>
                  <a:schemeClr val="dk1"/>
                </a:solidFill>
                <a:latin typeface="Nunito"/>
                <a:ea typeface="Nunito"/>
                <a:cs typeface="Nunito"/>
                <a:sym typeface="Nunito"/>
              </a:rPr>
              <a:t>ecure coding practices and audits</a:t>
            </a:r>
            <a:endParaRPr sz="2800">
              <a:solidFill>
                <a:schemeClr val="dk1"/>
              </a:solidFill>
              <a:latin typeface="Nunito"/>
              <a:ea typeface="Nunito"/>
              <a:cs typeface="Nunito"/>
              <a:sym typeface="Nunito"/>
            </a:endParaRPr>
          </a:p>
          <a:p>
            <a:pPr indent="-366395" lvl="0" marL="457200" rtl="0" algn="l">
              <a:lnSpc>
                <a:spcPct val="150000"/>
              </a:lnSpc>
              <a:spcBef>
                <a:spcPts val="0"/>
              </a:spcBef>
              <a:spcAft>
                <a:spcPts val="0"/>
              </a:spcAft>
              <a:buClr>
                <a:schemeClr val="dk1"/>
              </a:buClr>
              <a:buSzPct val="100000"/>
              <a:buFont typeface="Nunito"/>
              <a:buChar char="●"/>
            </a:pPr>
            <a:r>
              <a:rPr lang="en" sz="2800">
                <a:solidFill>
                  <a:schemeClr val="dk1"/>
                </a:solidFill>
                <a:latin typeface="Nunito"/>
                <a:ea typeface="Nunito"/>
                <a:cs typeface="Nunito"/>
                <a:sym typeface="Nunito"/>
              </a:rPr>
              <a:t>Comprehensive security update &amp; patch management</a:t>
            </a:r>
            <a:endParaRPr sz="2800">
              <a:solidFill>
                <a:schemeClr val="dk1"/>
              </a:solidFill>
              <a:latin typeface="Nunito"/>
              <a:ea typeface="Nunito"/>
              <a:cs typeface="Nunito"/>
              <a:sym typeface="Nunito"/>
            </a:endParaRPr>
          </a:p>
          <a:p>
            <a:pPr indent="-366395" lvl="0" marL="457200" rtl="0" algn="l">
              <a:lnSpc>
                <a:spcPct val="150000"/>
              </a:lnSpc>
              <a:spcBef>
                <a:spcPts val="0"/>
              </a:spcBef>
              <a:spcAft>
                <a:spcPts val="0"/>
              </a:spcAft>
              <a:buClr>
                <a:schemeClr val="dk1"/>
              </a:buClr>
              <a:buSzPct val="100000"/>
              <a:buFont typeface="Nunito"/>
              <a:buChar char="●"/>
            </a:pPr>
            <a:r>
              <a:rPr lang="en" sz="2800">
                <a:solidFill>
                  <a:schemeClr val="dk1"/>
                </a:solidFill>
                <a:latin typeface="Nunito"/>
                <a:ea typeface="Nunito"/>
                <a:cs typeface="Nunito"/>
                <a:sym typeface="Nunito"/>
              </a:rPr>
              <a:t>Security guidelines for end-users.</a:t>
            </a:r>
            <a:endParaRPr sz="2800">
              <a:solidFill>
                <a:schemeClr val="dk1"/>
              </a:solidFill>
              <a:latin typeface="Nunito"/>
              <a:ea typeface="Nunito"/>
              <a:cs typeface="Nunito"/>
              <a:sym typeface="Nunito"/>
            </a:endParaRPr>
          </a:p>
          <a:p>
            <a:pPr indent="0" lvl="0" marL="0" rtl="0" algn="l">
              <a:lnSpc>
                <a:spcPct val="150000"/>
              </a:lnSpc>
              <a:spcBef>
                <a:spcPts val="1200"/>
              </a:spcBef>
              <a:spcAft>
                <a:spcPts val="1200"/>
              </a:spcAft>
              <a:buNone/>
            </a:pPr>
            <a:r>
              <a:t/>
            </a:r>
            <a:endParaRPr>
              <a:solidFill>
                <a:schemeClr val="dk1"/>
              </a:solidFill>
              <a:latin typeface="Nunito"/>
              <a:ea typeface="Nunito"/>
              <a:cs typeface="Nunito"/>
              <a:sym typeface="Nunito"/>
            </a:endParaRPr>
          </a:p>
        </p:txBody>
      </p:sp>
      <p:sp>
        <p:nvSpPr>
          <p:cNvPr id="173" name="Google Shape;173;p29"/>
          <p:cNvSpPr txBox="1"/>
          <p:nvPr>
            <p:ph type="title"/>
          </p:nvPr>
        </p:nvSpPr>
        <p:spPr>
          <a:xfrm>
            <a:off x="311700" y="445025"/>
            <a:ext cx="8520600" cy="962400"/>
          </a:xfrm>
          <a:prstGeom prst="rect">
            <a:avLst/>
          </a:prstGeom>
        </p:spPr>
        <p:txBody>
          <a:bodyPr anchorCtr="0" anchor="t" bIns="91425" lIns="91425" spcFirstLastPara="1" rIns="91425" wrap="square" tIns="91425">
            <a:normAutofit fontScale="90000"/>
          </a:bodyPr>
          <a:lstStyle/>
          <a:p>
            <a:pPr indent="0" lvl="0" marL="533400" rtl="0" algn="just">
              <a:spcBef>
                <a:spcPts val="0"/>
              </a:spcBef>
              <a:spcAft>
                <a:spcPts val="0"/>
              </a:spcAft>
              <a:buNone/>
            </a:pPr>
            <a:r>
              <a:rPr b="1" lang="en">
                <a:latin typeface="Nunito"/>
                <a:ea typeface="Nunito"/>
                <a:cs typeface="Nunito"/>
                <a:sym typeface="Nunito"/>
              </a:rPr>
              <a:t>Recommendations - </a:t>
            </a:r>
            <a:br>
              <a:rPr b="1" lang="en">
                <a:latin typeface="Nunito"/>
                <a:ea typeface="Nunito"/>
                <a:cs typeface="Nunito"/>
                <a:sym typeface="Nunito"/>
              </a:rPr>
            </a:br>
            <a:r>
              <a:rPr b="1" lang="en">
                <a:latin typeface="Nunito"/>
                <a:ea typeface="Nunito"/>
                <a:cs typeface="Nunito"/>
                <a:sym typeface="Nunito"/>
              </a:rPr>
              <a:t>Developers and Manufacturers</a:t>
            </a:r>
            <a:endParaRPr b="1">
              <a:latin typeface="Nunito"/>
              <a:ea typeface="Nunito"/>
              <a:cs typeface="Nunito"/>
              <a:sym typeface="Nuni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0"/>
          <p:cNvSpPr txBox="1"/>
          <p:nvPr>
            <p:ph idx="1" type="body"/>
          </p:nvPr>
        </p:nvSpPr>
        <p:spPr>
          <a:xfrm>
            <a:off x="1239075" y="1563575"/>
            <a:ext cx="8520600" cy="3416400"/>
          </a:xfrm>
          <a:prstGeom prst="rect">
            <a:avLst/>
          </a:prstGeom>
        </p:spPr>
        <p:txBody>
          <a:bodyPr anchorCtr="0" anchor="t" bIns="91425" lIns="91425" spcFirstLastPara="1" rIns="91425" wrap="square" tIns="91425">
            <a:noAutofit/>
          </a:bodyPr>
          <a:lstStyle/>
          <a:p>
            <a:pPr indent="-368300" lvl="0" marL="457200" rtl="0" algn="l">
              <a:lnSpc>
                <a:spcPct val="150000"/>
              </a:lnSpc>
              <a:spcBef>
                <a:spcPts val="0"/>
              </a:spcBef>
              <a:spcAft>
                <a:spcPts val="0"/>
              </a:spcAft>
              <a:buClr>
                <a:schemeClr val="dk1"/>
              </a:buClr>
              <a:buSzPts val="2200"/>
              <a:buFont typeface="Nunito"/>
              <a:buChar char="●"/>
            </a:pPr>
            <a:r>
              <a:rPr lang="en" sz="2200">
                <a:solidFill>
                  <a:schemeClr val="dk1"/>
                </a:solidFill>
                <a:latin typeface="Nunito"/>
                <a:ea typeface="Nunito"/>
                <a:cs typeface="Nunito"/>
                <a:sym typeface="Nunito"/>
              </a:rPr>
              <a:t>Regularly update </a:t>
            </a:r>
            <a:endParaRPr sz="2200">
              <a:solidFill>
                <a:schemeClr val="dk1"/>
              </a:solidFill>
              <a:latin typeface="Nunito"/>
              <a:ea typeface="Nunito"/>
              <a:cs typeface="Nunito"/>
              <a:sym typeface="Nunito"/>
            </a:endParaRPr>
          </a:p>
          <a:p>
            <a:pPr indent="-368300" lvl="0" marL="457200" rtl="0" algn="l">
              <a:lnSpc>
                <a:spcPct val="150000"/>
              </a:lnSpc>
              <a:spcBef>
                <a:spcPts val="0"/>
              </a:spcBef>
              <a:spcAft>
                <a:spcPts val="0"/>
              </a:spcAft>
              <a:buClr>
                <a:schemeClr val="dk1"/>
              </a:buClr>
              <a:buSzPts val="2200"/>
              <a:buFont typeface="Nunito"/>
              <a:buChar char="●"/>
            </a:pPr>
            <a:r>
              <a:rPr lang="en" sz="2200">
                <a:solidFill>
                  <a:schemeClr val="dk1"/>
                </a:solidFill>
                <a:latin typeface="Nunito"/>
                <a:ea typeface="Nunito"/>
                <a:cs typeface="Nunito"/>
                <a:sym typeface="Nunito"/>
              </a:rPr>
              <a:t>Manufacturer's guidelines &amp; best practices </a:t>
            </a:r>
            <a:endParaRPr sz="2200">
              <a:solidFill>
                <a:schemeClr val="dk1"/>
              </a:solidFill>
              <a:latin typeface="Nunito"/>
              <a:ea typeface="Nunito"/>
              <a:cs typeface="Nunito"/>
              <a:sym typeface="Nunito"/>
            </a:endParaRPr>
          </a:p>
          <a:p>
            <a:pPr indent="-368300" lvl="0" marL="457200" rtl="0" algn="l">
              <a:lnSpc>
                <a:spcPct val="150000"/>
              </a:lnSpc>
              <a:spcBef>
                <a:spcPts val="0"/>
              </a:spcBef>
              <a:spcAft>
                <a:spcPts val="0"/>
              </a:spcAft>
              <a:buClr>
                <a:schemeClr val="dk1"/>
              </a:buClr>
              <a:buSzPts val="2200"/>
              <a:buFont typeface="Nunito"/>
              <a:buChar char="●"/>
            </a:pPr>
            <a:r>
              <a:rPr lang="en" sz="2200">
                <a:solidFill>
                  <a:schemeClr val="dk1"/>
                </a:solidFill>
                <a:latin typeface="Nunito"/>
                <a:ea typeface="Nunito"/>
                <a:cs typeface="Nunito"/>
                <a:sym typeface="Nunito"/>
              </a:rPr>
              <a:t>Strong passwords</a:t>
            </a:r>
            <a:endParaRPr sz="2200">
              <a:solidFill>
                <a:schemeClr val="dk1"/>
              </a:solidFill>
              <a:latin typeface="Nunito"/>
              <a:ea typeface="Nunito"/>
              <a:cs typeface="Nunito"/>
              <a:sym typeface="Nunito"/>
            </a:endParaRPr>
          </a:p>
          <a:p>
            <a:pPr indent="-368300" lvl="0" marL="457200" rtl="0" algn="l">
              <a:lnSpc>
                <a:spcPct val="150000"/>
              </a:lnSpc>
              <a:spcBef>
                <a:spcPts val="0"/>
              </a:spcBef>
              <a:spcAft>
                <a:spcPts val="0"/>
              </a:spcAft>
              <a:buClr>
                <a:schemeClr val="dk1"/>
              </a:buClr>
              <a:buSzPts val="2200"/>
              <a:buFont typeface="Nunito"/>
              <a:buChar char="●"/>
            </a:pPr>
            <a:r>
              <a:rPr lang="en" sz="2200">
                <a:solidFill>
                  <a:schemeClr val="dk1"/>
                </a:solidFill>
                <a:latin typeface="Nunito"/>
                <a:ea typeface="Nunito"/>
                <a:cs typeface="Nunito"/>
                <a:sym typeface="Nunito"/>
              </a:rPr>
              <a:t>Reduce attack surface by updation of other devices</a:t>
            </a:r>
            <a:endParaRPr sz="2200">
              <a:solidFill>
                <a:schemeClr val="dk1"/>
              </a:solidFill>
              <a:latin typeface="Nunito"/>
              <a:ea typeface="Nunito"/>
              <a:cs typeface="Nunito"/>
              <a:sym typeface="Nunito"/>
            </a:endParaRPr>
          </a:p>
          <a:p>
            <a:pPr indent="-368300" lvl="0" marL="457200" rtl="0" algn="l">
              <a:lnSpc>
                <a:spcPct val="150000"/>
              </a:lnSpc>
              <a:spcBef>
                <a:spcPts val="0"/>
              </a:spcBef>
              <a:spcAft>
                <a:spcPts val="0"/>
              </a:spcAft>
              <a:buClr>
                <a:schemeClr val="dk1"/>
              </a:buClr>
              <a:buSzPts val="2200"/>
              <a:buFont typeface="Nunito"/>
              <a:buChar char="●"/>
            </a:pPr>
            <a:r>
              <a:rPr lang="en" sz="2200">
                <a:solidFill>
                  <a:schemeClr val="dk1"/>
                </a:solidFill>
                <a:latin typeface="Nunito"/>
                <a:ea typeface="Nunito"/>
                <a:cs typeface="Nunito"/>
                <a:sym typeface="Nunito"/>
              </a:rPr>
              <a:t>Using a VPN</a:t>
            </a:r>
            <a:endParaRPr sz="2200">
              <a:solidFill>
                <a:schemeClr val="dk1"/>
              </a:solidFill>
              <a:latin typeface="Nunito"/>
              <a:ea typeface="Nunito"/>
              <a:cs typeface="Nunito"/>
              <a:sym typeface="Nunito"/>
            </a:endParaRPr>
          </a:p>
        </p:txBody>
      </p:sp>
      <p:sp>
        <p:nvSpPr>
          <p:cNvPr id="179" name="Google Shape;179;p30"/>
          <p:cNvSpPr txBox="1"/>
          <p:nvPr>
            <p:ph type="title"/>
          </p:nvPr>
        </p:nvSpPr>
        <p:spPr>
          <a:xfrm>
            <a:off x="311700" y="445025"/>
            <a:ext cx="8520600" cy="876300"/>
          </a:xfrm>
          <a:prstGeom prst="rect">
            <a:avLst/>
          </a:prstGeom>
        </p:spPr>
        <p:txBody>
          <a:bodyPr anchorCtr="0" anchor="t" bIns="91425" lIns="91425" spcFirstLastPara="1" rIns="91425" wrap="square" tIns="91425">
            <a:normAutofit fontScale="90000"/>
          </a:bodyPr>
          <a:lstStyle/>
          <a:p>
            <a:pPr indent="0" lvl="0" marL="533400" rtl="0" algn="l">
              <a:spcBef>
                <a:spcPts val="0"/>
              </a:spcBef>
              <a:spcAft>
                <a:spcPts val="0"/>
              </a:spcAft>
              <a:buNone/>
            </a:pPr>
            <a:r>
              <a:rPr b="1" lang="en">
                <a:latin typeface="Nunito"/>
                <a:ea typeface="Nunito"/>
                <a:cs typeface="Nunito"/>
                <a:sym typeface="Nunito"/>
              </a:rPr>
              <a:t>Recommendations - </a:t>
            </a:r>
            <a:br>
              <a:rPr b="1" lang="en">
                <a:latin typeface="Nunito"/>
                <a:ea typeface="Nunito"/>
                <a:cs typeface="Nunito"/>
                <a:sym typeface="Nunito"/>
              </a:rPr>
            </a:br>
            <a:r>
              <a:rPr b="1" lang="en">
                <a:latin typeface="Nunito"/>
                <a:ea typeface="Nunito"/>
                <a:cs typeface="Nunito"/>
                <a:sym typeface="Nunito"/>
              </a:rPr>
              <a:t>End Users &amp; Consumers</a:t>
            </a:r>
            <a:endParaRPr b="1">
              <a:latin typeface="Nunito"/>
              <a:ea typeface="Nunito"/>
              <a:cs typeface="Nunito"/>
              <a:sym typeface="Nuni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1"/>
          <p:cNvSpPr txBox="1"/>
          <p:nvPr>
            <p:ph type="title"/>
          </p:nvPr>
        </p:nvSpPr>
        <p:spPr>
          <a:xfrm>
            <a:off x="311700" y="6553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720">
                <a:latin typeface="Nunito"/>
                <a:ea typeface="Nunito"/>
                <a:cs typeface="Nunito"/>
                <a:sym typeface="Nunito"/>
              </a:rPr>
              <a:t>Conclusion</a:t>
            </a:r>
            <a:endParaRPr b="1" sz="2720">
              <a:latin typeface="Nunito"/>
              <a:ea typeface="Nunito"/>
              <a:cs typeface="Nunito"/>
              <a:sym typeface="Nunito"/>
            </a:endParaRPr>
          </a:p>
        </p:txBody>
      </p:sp>
      <p:sp>
        <p:nvSpPr>
          <p:cNvPr id="185" name="Google Shape;185;p31"/>
          <p:cNvSpPr txBox="1"/>
          <p:nvPr>
            <p:ph idx="1" type="body"/>
          </p:nvPr>
        </p:nvSpPr>
        <p:spPr>
          <a:xfrm>
            <a:off x="758700" y="1674550"/>
            <a:ext cx="7626600" cy="2792100"/>
          </a:xfrm>
          <a:prstGeom prst="rect">
            <a:avLst/>
          </a:prstGeom>
        </p:spPr>
        <p:txBody>
          <a:bodyPr anchorCtr="0" anchor="t" bIns="91425" lIns="91425" spcFirstLastPara="1" rIns="91425" wrap="square" tIns="91425">
            <a:noAutofit/>
          </a:bodyPr>
          <a:lstStyle/>
          <a:p>
            <a:pPr indent="-355600" lvl="0" marL="457200" rtl="0" algn="l">
              <a:lnSpc>
                <a:spcPct val="150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D</a:t>
            </a:r>
            <a:r>
              <a:rPr lang="en" sz="2000">
                <a:solidFill>
                  <a:schemeClr val="dk1"/>
                </a:solidFill>
                <a:latin typeface="Nunito"/>
                <a:ea typeface="Nunito"/>
                <a:cs typeface="Nunito"/>
                <a:sym typeface="Nunito"/>
              </a:rPr>
              <a:t>esigned to remotely control electronic appliances</a:t>
            </a:r>
            <a:endParaRPr sz="2000">
              <a:solidFill>
                <a:schemeClr val="dk1"/>
              </a:solidFill>
              <a:latin typeface="Nunito"/>
              <a:ea typeface="Nunito"/>
              <a:cs typeface="Nunito"/>
              <a:sym typeface="Nunito"/>
            </a:endParaRPr>
          </a:p>
          <a:p>
            <a:pPr indent="-355600" lvl="0" marL="457200" rtl="0" algn="l">
              <a:lnSpc>
                <a:spcPct val="150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Incorporates several software components from various vendors</a:t>
            </a:r>
            <a:endParaRPr sz="2000">
              <a:solidFill>
                <a:schemeClr val="dk1"/>
              </a:solidFill>
              <a:latin typeface="Nunito"/>
              <a:ea typeface="Nunito"/>
              <a:cs typeface="Nunito"/>
              <a:sym typeface="Nunito"/>
            </a:endParaRPr>
          </a:p>
          <a:p>
            <a:pPr indent="-355600" lvl="0" marL="457200" rtl="0" algn="l">
              <a:lnSpc>
                <a:spcPct val="150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Remnants of </a:t>
            </a:r>
            <a:r>
              <a:rPr lang="en" sz="2000">
                <a:solidFill>
                  <a:schemeClr val="dk1"/>
                </a:solidFill>
                <a:latin typeface="Nunito"/>
                <a:ea typeface="Nunito"/>
                <a:cs typeface="Nunito"/>
                <a:sym typeface="Nunito"/>
              </a:rPr>
              <a:t>residual</a:t>
            </a:r>
            <a:r>
              <a:rPr lang="en" sz="2000">
                <a:solidFill>
                  <a:schemeClr val="dk1"/>
                </a:solidFill>
                <a:latin typeface="Nunito"/>
                <a:ea typeface="Nunito"/>
                <a:cs typeface="Nunito"/>
                <a:sym typeface="Nunito"/>
              </a:rPr>
              <a:t> vulnerabilities</a:t>
            </a:r>
            <a:endParaRPr sz="2000">
              <a:solidFill>
                <a:schemeClr val="dk1"/>
              </a:solidFill>
              <a:latin typeface="Nunito"/>
              <a:ea typeface="Nunito"/>
              <a:cs typeface="Nunito"/>
              <a:sym typeface="Nunito"/>
            </a:endParaRPr>
          </a:p>
          <a:p>
            <a:pPr indent="-355600" lvl="0" marL="457200" rtl="0" algn="l">
              <a:lnSpc>
                <a:spcPct val="150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A case of less security making the product more desirable</a:t>
            </a:r>
            <a:endParaRPr sz="2000">
              <a:solidFill>
                <a:schemeClr val="dk1"/>
              </a:solidFill>
              <a:latin typeface="Nunito"/>
              <a:ea typeface="Nunito"/>
              <a:cs typeface="Nunito"/>
              <a:sym typeface="Nunito"/>
            </a:endParaRPr>
          </a:p>
          <a:p>
            <a:pPr indent="0" lvl="0" marL="0" rtl="0" algn="l">
              <a:lnSpc>
                <a:spcPct val="150000"/>
              </a:lnSpc>
              <a:spcBef>
                <a:spcPts val="1200"/>
              </a:spcBef>
              <a:spcAft>
                <a:spcPts val="0"/>
              </a:spcAft>
              <a:buNone/>
            </a:pPr>
            <a:r>
              <a:t/>
            </a:r>
            <a:endParaRPr sz="2000">
              <a:solidFill>
                <a:schemeClr val="dk1"/>
              </a:solidFill>
              <a:latin typeface="Nunito"/>
              <a:ea typeface="Nunito"/>
              <a:cs typeface="Nunito"/>
              <a:sym typeface="Nunito"/>
            </a:endParaRPr>
          </a:p>
          <a:p>
            <a:pPr indent="0" lvl="0" marL="0" rtl="0" algn="ctr">
              <a:lnSpc>
                <a:spcPct val="150000"/>
              </a:lnSpc>
              <a:spcBef>
                <a:spcPts val="1200"/>
              </a:spcBef>
              <a:spcAft>
                <a:spcPts val="1200"/>
              </a:spcAft>
              <a:buNone/>
            </a:pPr>
            <a:r>
              <a:t/>
            </a:r>
            <a:endParaRPr sz="2000">
              <a:solidFill>
                <a:schemeClr val="dk1"/>
              </a:solidFill>
              <a:latin typeface="Nunito"/>
              <a:ea typeface="Nunito"/>
              <a:cs typeface="Nunito"/>
              <a:sym typeface="Nuni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32"/>
          <p:cNvPicPr preferRelativeResize="0"/>
          <p:nvPr/>
        </p:nvPicPr>
        <p:blipFill>
          <a:blip r:embed="rId3">
            <a:alphaModFix/>
          </a:blip>
          <a:stretch>
            <a:fillRect/>
          </a:stretch>
        </p:blipFill>
        <p:spPr>
          <a:xfrm>
            <a:off x="-118525" y="0"/>
            <a:ext cx="9262524" cy="521018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